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Montserrat"/>
      <p:regular r:id="rId19"/>
      <p:bold r:id="rId20"/>
      <p:italic r:id="rId21"/>
      <p:boldItalic r:id="rId22"/>
    </p:embeddedFont>
    <p:embeddedFont>
      <p:font typeface="La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fntdata"/><Relationship Id="rId22" Type="http://schemas.openxmlformats.org/officeDocument/2006/relationships/font" Target="fonts/Montserrat-boldItalic.fntdata"/><Relationship Id="rId21" Type="http://schemas.openxmlformats.org/officeDocument/2006/relationships/font" Target="fonts/Montserrat-italic.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Italic.fntdata"/><Relationship Id="rId25"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Montserrat-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8807a1e96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f8807a1e96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f8807a1e96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f8807a1e96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8807a1e96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f8807a1e96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8807a1e96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f8807a1e96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f8807a1e96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f8807a1e96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f8807a1e96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f8807a1e96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f8807a1e96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f8807a1e96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f8807a1e96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f8807a1e96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f8807a1e96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f8807a1e96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f8807a1e96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f8807a1e96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f8807a1e96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f8807a1e96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f8807a1e96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f8807a1e96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15.jpg"/><Relationship Id="rId6"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4.png"/><Relationship Id="rId6" Type="http://schemas.openxmlformats.org/officeDocument/2006/relationships/image" Target="../media/image2.png"/><Relationship Id="rId7" Type="http://schemas.openxmlformats.org/officeDocument/2006/relationships/image" Target="../media/image17.png"/><Relationship Id="rId8"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108000" y="1312275"/>
            <a:ext cx="5407500" cy="115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fr" sz="3100"/>
              <a:t>BOLT FOOD</a:t>
            </a:r>
            <a:endParaRPr sz="3100"/>
          </a:p>
          <a:p>
            <a:pPr indent="0" lvl="0" marL="0" rtl="0" algn="l">
              <a:spcBef>
                <a:spcPts val="0"/>
              </a:spcBef>
              <a:spcAft>
                <a:spcPts val="0"/>
              </a:spcAft>
              <a:buSzPts val="990"/>
              <a:buNone/>
            </a:pPr>
            <a:r>
              <a:rPr lang="fr" sz="3100"/>
              <a:t>“En route pour la France !”</a:t>
            </a:r>
            <a:endParaRPr sz="3100"/>
          </a:p>
        </p:txBody>
      </p:sp>
      <p:sp>
        <p:nvSpPr>
          <p:cNvPr id="135" name="Google Shape;135;p13"/>
          <p:cNvSpPr txBox="1"/>
          <p:nvPr>
            <p:ph idx="1" type="subTitle"/>
          </p:nvPr>
        </p:nvSpPr>
        <p:spPr>
          <a:xfrm>
            <a:off x="3108000" y="2571750"/>
            <a:ext cx="5407500" cy="70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Analyse du marché français de la livraison de repas</a:t>
            </a:r>
            <a:endParaRPr/>
          </a:p>
          <a:p>
            <a:pPr indent="0" lvl="0" marL="0" rtl="0" algn="l">
              <a:spcBef>
                <a:spcPts val="0"/>
              </a:spcBef>
              <a:spcAft>
                <a:spcPts val="0"/>
              </a:spcAft>
              <a:buNone/>
            </a:pPr>
            <a:r>
              <a:rPr lang="fr"/>
              <a:t>et recommandations stratégiques pour Bolt </a:t>
            </a:r>
            <a:endParaRPr/>
          </a:p>
        </p:txBody>
      </p:sp>
      <p:sp>
        <p:nvSpPr>
          <p:cNvPr id="136" name="Google Shape;136;p13"/>
          <p:cNvSpPr txBox="1"/>
          <p:nvPr/>
        </p:nvSpPr>
        <p:spPr>
          <a:xfrm>
            <a:off x="1526600" y="3687350"/>
            <a:ext cx="7445100" cy="10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lt1"/>
                </a:solidFill>
                <a:latin typeface="Lato"/>
                <a:ea typeface="Lato"/>
                <a:cs typeface="Lato"/>
                <a:sym typeface="Lato"/>
              </a:rPr>
              <a:t>Projet Data Analyse — </a:t>
            </a:r>
            <a:r>
              <a:rPr lang="fr" sz="1300">
                <a:solidFill>
                  <a:schemeClr val="lt1"/>
                </a:solidFill>
                <a:latin typeface="Lato"/>
                <a:ea typeface="Lato"/>
                <a:cs typeface="Lato"/>
                <a:sym typeface="Lato"/>
              </a:rPr>
              <a:t>Fox Intelligence</a:t>
            </a:r>
            <a:r>
              <a:rPr lang="fr" sz="1300">
                <a:solidFill>
                  <a:schemeClr val="lt1"/>
                </a:solidFill>
                <a:latin typeface="Lato"/>
                <a:ea typeface="Lato"/>
                <a:cs typeface="Lato"/>
                <a:sym typeface="Lato"/>
              </a:rPr>
              <a:t>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rPr lang="fr" sz="1300">
                <a:solidFill>
                  <a:schemeClr val="lt1"/>
                </a:solidFill>
                <a:latin typeface="Lato"/>
                <a:ea typeface="Lato"/>
                <a:cs typeface="Lato"/>
                <a:sym typeface="Lato"/>
              </a:rPr>
              <a:t>Coralie &amp; Mike											31/08/2026</a:t>
            </a:r>
            <a:endParaRPr sz="1300">
              <a:solidFill>
                <a:schemeClr val="lt1"/>
              </a:solidFill>
              <a:latin typeface="Lato"/>
              <a:ea typeface="Lato"/>
              <a:cs typeface="Lato"/>
              <a:sym typeface="Lato"/>
            </a:endParaRPr>
          </a:p>
        </p:txBody>
      </p:sp>
      <p:pic>
        <p:nvPicPr>
          <p:cNvPr id="137" name="Google Shape;137;p13" title="bolt-logo-png_seeklogo-487337 (1).png"/>
          <p:cNvPicPr preferRelativeResize="0"/>
          <p:nvPr/>
        </p:nvPicPr>
        <p:blipFill>
          <a:blip r:embed="rId3">
            <a:alphaModFix/>
          </a:blip>
          <a:stretch>
            <a:fillRect/>
          </a:stretch>
        </p:blipFill>
        <p:spPr>
          <a:xfrm>
            <a:off x="7385675" y="384600"/>
            <a:ext cx="1032349" cy="1032350"/>
          </a:xfrm>
          <a:prstGeom prst="rect">
            <a:avLst/>
          </a:prstGeom>
          <a:noFill/>
          <a:ln>
            <a:noFill/>
          </a:ln>
        </p:spPr>
      </p:pic>
      <p:pic>
        <p:nvPicPr>
          <p:cNvPr id="138" name="Google Shape;138;p13" title="foxintelligence.png"/>
          <p:cNvPicPr preferRelativeResize="0"/>
          <p:nvPr/>
        </p:nvPicPr>
        <p:blipFill>
          <a:blip r:embed="rId4">
            <a:alphaModFix/>
          </a:blip>
          <a:stretch>
            <a:fillRect/>
          </a:stretch>
        </p:blipFill>
        <p:spPr>
          <a:xfrm>
            <a:off x="234850" y="3687350"/>
            <a:ext cx="1002000" cy="100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4"/>
          <p:cNvSpPr txBox="1"/>
          <p:nvPr>
            <p:ph type="title"/>
          </p:nvPr>
        </p:nvSpPr>
        <p:spPr>
          <a:xfrm>
            <a:off x="1250525" y="315462"/>
            <a:ext cx="7345500" cy="937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Bolt souhaite entrer sur le marché français de la livraison de repas</a:t>
            </a:r>
            <a:r>
              <a:rPr lang="fr" sz="2622"/>
              <a:t> </a:t>
            </a:r>
            <a:endParaRPr sz="2622"/>
          </a:p>
        </p:txBody>
      </p:sp>
      <p:sp>
        <p:nvSpPr>
          <p:cNvPr id="144" name="Google Shape;144;p14"/>
          <p:cNvSpPr txBox="1"/>
          <p:nvPr>
            <p:ph idx="1" type="body"/>
          </p:nvPr>
        </p:nvSpPr>
        <p:spPr>
          <a:xfrm>
            <a:off x="1383625" y="1450142"/>
            <a:ext cx="3403200" cy="298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None/>
            </a:pPr>
            <a:r>
              <a:rPr b="1" lang="fr" sz="1400"/>
              <a:t>CONTEXTE :  </a:t>
            </a:r>
            <a:endParaRPr b="1" sz="1400"/>
          </a:p>
          <a:p>
            <a:pPr indent="0" lvl="0" marL="0" marR="0" rtl="0" algn="ctr">
              <a:lnSpc>
                <a:spcPct val="100000"/>
              </a:lnSpc>
              <a:spcBef>
                <a:spcPts val="0"/>
              </a:spcBef>
              <a:spcAft>
                <a:spcPts val="0"/>
              </a:spcAft>
              <a:buNone/>
            </a:pPr>
            <a:r>
              <a:t/>
            </a:r>
            <a:endParaRPr b="1" sz="1400"/>
          </a:p>
          <a:p>
            <a:pPr indent="0" lvl="0" marL="0" marR="0" rtl="0" algn="ctr">
              <a:lnSpc>
                <a:spcPct val="100000"/>
              </a:lnSpc>
              <a:spcBef>
                <a:spcPts val="0"/>
              </a:spcBef>
              <a:spcAft>
                <a:spcPts val="0"/>
              </a:spcAft>
              <a:buNone/>
            </a:pPr>
            <a:r>
              <a:rPr b="1" lang="fr" sz="1400"/>
              <a:t>CLIENTS</a:t>
            </a:r>
            <a:endParaRPr b="1" sz="1400"/>
          </a:p>
          <a:p>
            <a:pPr indent="0" lvl="0" marL="0" marR="0" rtl="0" algn="ctr">
              <a:lnSpc>
                <a:spcPct val="100000"/>
              </a:lnSpc>
              <a:spcBef>
                <a:spcPts val="0"/>
              </a:spcBef>
              <a:spcAft>
                <a:spcPts val="0"/>
              </a:spcAft>
              <a:buNone/>
            </a:pPr>
            <a:r>
              <a:rPr b="1" lang="fr" sz="1400"/>
              <a:t>Qui sont les consommateurs et comment évoluent-ils ?</a:t>
            </a:r>
            <a:endParaRPr b="1" sz="1400"/>
          </a:p>
          <a:p>
            <a:pPr indent="0" lvl="0" marL="0" marR="0" rtl="0" algn="ctr">
              <a:lnSpc>
                <a:spcPct val="100000"/>
              </a:lnSpc>
              <a:spcBef>
                <a:spcPts val="0"/>
              </a:spcBef>
              <a:spcAft>
                <a:spcPts val="0"/>
              </a:spcAft>
              <a:buNone/>
            </a:pPr>
            <a:r>
              <a:t/>
            </a:r>
            <a:endParaRPr b="1" sz="1400"/>
          </a:p>
          <a:p>
            <a:pPr indent="0" lvl="0" marL="0" marR="0" rtl="0" algn="ctr">
              <a:lnSpc>
                <a:spcPct val="100000"/>
              </a:lnSpc>
              <a:spcBef>
                <a:spcPts val="0"/>
              </a:spcBef>
              <a:spcAft>
                <a:spcPts val="0"/>
              </a:spcAft>
              <a:buNone/>
            </a:pPr>
            <a:r>
              <a:rPr b="1" lang="fr" sz="1400"/>
              <a:t>MARCHE</a:t>
            </a:r>
            <a:endParaRPr b="1" sz="1400"/>
          </a:p>
          <a:p>
            <a:pPr indent="0" lvl="0" marL="0" marR="0" rtl="0" algn="ctr">
              <a:lnSpc>
                <a:spcPct val="100000"/>
              </a:lnSpc>
              <a:spcBef>
                <a:spcPts val="0"/>
              </a:spcBef>
              <a:spcAft>
                <a:spcPts val="0"/>
              </a:spcAft>
              <a:buNone/>
            </a:pPr>
            <a:r>
              <a:rPr b="1" lang="fr" sz="1400"/>
              <a:t> Comment se structure l'offre et quels acteurs dominent ?</a:t>
            </a:r>
            <a:endParaRPr b="1" sz="1400"/>
          </a:p>
          <a:p>
            <a:pPr indent="0" lvl="0" marL="0" marR="0" rtl="0" algn="ctr">
              <a:lnSpc>
                <a:spcPct val="100000"/>
              </a:lnSpc>
              <a:spcBef>
                <a:spcPts val="0"/>
              </a:spcBef>
              <a:spcAft>
                <a:spcPts val="0"/>
              </a:spcAft>
              <a:buNone/>
            </a:pPr>
            <a:r>
              <a:t/>
            </a:r>
            <a:endParaRPr b="1" sz="1400"/>
          </a:p>
          <a:p>
            <a:pPr indent="0" lvl="0" marL="0" marR="0" rtl="0" algn="ctr">
              <a:lnSpc>
                <a:spcPct val="100000"/>
              </a:lnSpc>
              <a:spcBef>
                <a:spcPts val="0"/>
              </a:spcBef>
              <a:spcAft>
                <a:spcPts val="0"/>
              </a:spcAft>
              <a:buNone/>
            </a:pPr>
            <a:r>
              <a:rPr b="1" lang="fr" sz="1400"/>
              <a:t>CONCURRENCE</a:t>
            </a:r>
            <a:endParaRPr b="1" sz="1400"/>
          </a:p>
          <a:p>
            <a:pPr indent="0" lvl="0" marL="0" marR="0" rtl="0" algn="ctr">
              <a:lnSpc>
                <a:spcPct val="100000"/>
              </a:lnSpc>
              <a:spcBef>
                <a:spcPts val="0"/>
              </a:spcBef>
              <a:spcAft>
                <a:spcPts val="0"/>
              </a:spcAft>
              <a:buNone/>
            </a:pPr>
            <a:r>
              <a:rPr b="1" lang="fr" sz="1400"/>
              <a:t>Où Bolt doit-il prioriser son développement ?</a:t>
            </a:r>
            <a:endParaRPr b="1" sz="1400"/>
          </a:p>
        </p:txBody>
      </p:sp>
      <p:sp>
        <p:nvSpPr>
          <p:cNvPr id="145" name="Google Shape;145;p14"/>
          <p:cNvSpPr txBox="1"/>
          <p:nvPr>
            <p:ph idx="2" type="body"/>
          </p:nvPr>
        </p:nvSpPr>
        <p:spPr>
          <a:xfrm>
            <a:off x="5074125" y="1450150"/>
            <a:ext cx="3403200" cy="1262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None/>
            </a:pPr>
            <a:r>
              <a:rPr b="1" lang="fr" sz="1400"/>
              <a:t>PROBLÉMATIQUE</a:t>
            </a:r>
            <a:r>
              <a:rPr b="1" lang="fr" sz="1400"/>
              <a:t> :</a:t>
            </a:r>
            <a:endParaRPr b="1" sz="1400"/>
          </a:p>
          <a:p>
            <a:pPr indent="0" lvl="0" marL="0" marR="0" rtl="0" algn="ctr">
              <a:lnSpc>
                <a:spcPct val="100000"/>
              </a:lnSpc>
              <a:spcBef>
                <a:spcPts val="0"/>
              </a:spcBef>
              <a:spcAft>
                <a:spcPts val="0"/>
              </a:spcAft>
              <a:buNone/>
            </a:pPr>
            <a:r>
              <a:t/>
            </a:r>
            <a:endParaRPr b="1" sz="1400"/>
          </a:p>
          <a:p>
            <a:pPr indent="0" lvl="0" marL="0" marR="0" rtl="0" algn="ctr">
              <a:lnSpc>
                <a:spcPct val="100000"/>
              </a:lnSpc>
              <a:spcBef>
                <a:spcPts val="0"/>
              </a:spcBef>
              <a:spcAft>
                <a:spcPts val="0"/>
              </a:spcAft>
              <a:buNone/>
            </a:pPr>
            <a:r>
              <a:rPr b="1" lang="fr" sz="1400"/>
              <a:t>Comment Bolt peut-il réussir son entrée sur le marché français de la livraison de repas ? </a:t>
            </a:r>
            <a:endParaRPr b="1"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5"/>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Une analyse fondée sur les données de commandes observées</a:t>
            </a:r>
            <a:endParaRPr/>
          </a:p>
        </p:txBody>
      </p:sp>
      <p:sp>
        <p:nvSpPr>
          <p:cNvPr id="151" name="Google Shape;151;p15"/>
          <p:cNvSpPr txBox="1"/>
          <p:nvPr>
            <p:ph idx="1" type="body"/>
          </p:nvPr>
        </p:nvSpPr>
        <p:spPr>
          <a:xfrm>
            <a:off x="946500" y="1458375"/>
            <a:ext cx="2129400" cy="27144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None/>
            </a:pPr>
            <a:r>
              <a:rPr b="1" lang="fr" sz="1400"/>
              <a:t>① DONNÉES INITIALES</a:t>
            </a:r>
            <a:endParaRPr b="1" sz="1400"/>
          </a:p>
          <a:p>
            <a:pPr indent="0" lvl="0" marL="0" marR="0" rtl="0" algn="ctr">
              <a:lnSpc>
                <a:spcPct val="100000"/>
              </a:lnSpc>
              <a:spcBef>
                <a:spcPts val="0"/>
              </a:spcBef>
              <a:spcAft>
                <a:spcPts val="0"/>
              </a:spcAft>
              <a:buNone/>
            </a:pPr>
            <a:r>
              <a:t/>
            </a:r>
            <a:endParaRPr b="1" sz="1200"/>
          </a:p>
          <a:p>
            <a:pPr indent="0" lvl="0" marL="0" marR="0" rtl="0" algn="ctr">
              <a:lnSpc>
                <a:spcPct val="100000"/>
              </a:lnSpc>
              <a:spcBef>
                <a:spcPts val="0"/>
              </a:spcBef>
              <a:spcAft>
                <a:spcPts val="0"/>
              </a:spcAft>
              <a:buNone/>
            </a:pPr>
            <a:r>
              <a:rPr b="1" lang="fr" sz="1200"/>
              <a:t>Table Transactions</a:t>
            </a:r>
            <a:endParaRPr b="1" sz="1200"/>
          </a:p>
          <a:p>
            <a:pPr indent="0" lvl="0" marL="0" marR="0" rtl="0" algn="ctr">
              <a:lnSpc>
                <a:spcPct val="100000"/>
              </a:lnSpc>
              <a:spcBef>
                <a:spcPts val="0"/>
              </a:spcBef>
              <a:spcAft>
                <a:spcPts val="0"/>
              </a:spcAft>
              <a:buNone/>
            </a:pPr>
            <a:r>
              <a:rPr b="1" lang="fr" sz="1200"/>
              <a:t> (</a:t>
            </a:r>
            <a:r>
              <a:rPr b="1" lang="fr" sz="1200"/>
              <a:t>807 676 lignes)</a:t>
            </a:r>
            <a:endParaRPr b="1" sz="1200"/>
          </a:p>
          <a:p>
            <a:pPr indent="0" lvl="0" marL="0" marR="0" rtl="0" algn="ctr">
              <a:lnSpc>
                <a:spcPct val="100000"/>
              </a:lnSpc>
              <a:spcBef>
                <a:spcPts val="0"/>
              </a:spcBef>
              <a:spcAft>
                <a:spcPts val="0"/>
              </a:spcAft>
              <a:buNone/>
            </a:pPr>
            <a:r>
              <a:t/>
            </a:r>
            <a:endParaRPr b="1" sz="1400"/>
          </a:p>
          <a:p>
            <a:pPr indent="0" lvl="0" marL="0" marR="0" rtl="0" algn="ctr">
              <a:lnSpc>
                <a:spcPct val="100000"/>
              </a:lnSpc>
              <a:spcBef>
                <a:spcPts val="0"/>
              </a:spcBef>
              <a:spcAft>
                <a:spcPts val="0"/>
              </a:spcAft>
              <a:buNone/>
            </a:pPr>
            <a:r>
              <a:rPr b="1" lang="fr" sz="1200"/>
              <a:t>Table Products </a:t>
            </a:r>
            <a:endParaRPr b="1" sz="1200"/>
          </a:p>
          <a:p>
            <a:pPr indent="0" lvl="0" marL="0" marR="0" rtl="0" algn="ctr">
              <a:lnSpc>
                <a:spcPct val="100000"/>
              </a:lnSpc>
              <a:spcBef>
                <a:spcPts val="0"/>
              </a:spcBef>
              <a:spcAft>
                <a:spcPts val="0"/>
              </a:spcAft>
              <a:buNone/>
            </a:pPr>
            <a:r>
              <a:rPr b="1" lang="fr" sz="1200"/>
              <a:t>(1 711 616 lignes)</a:t>
            </a:r>
            <a:endParaRPr b="1" sz="1200"/>
          </a:p>
          <a:p>
            <a:pPr indent="0" lvl="0" marL="0" marR="0" rtl="0" algn="ctr">
              <a:lnSpc>
                <a:spcPct val="100000"/>
              </a:lnSpc>
              <a:spcBef>
                <a:spcPts val="0"/>
              </a:spcBef>
              <a:spcAft>
                <a:spcPts val="0"/>
              </a:spcAft>
              <a:buNone/>
            </a:pPr>
            <a:r>
              <a:rPr b="1" lang="fr" sz="1200"/>
              <a:t>  </a:t>
            </a:r>
            <a:endParaRPr b="1" sz="1200"/>
          </a:p>
          <a:p>
            <a:pPr indent="0" lvl="0" marL="0" marR="0" rtl="0" algn="ctr">
              <a:lnSpc>
                <a:spcPct val="100000"/>
              </a:lnSpc>
              <a:spcBef>
                <a:spcPts val="0"/>
              </a:spcBef>
              <a:spcAft>
                <a:spcPts val="0"/>
              </a:spcAft>
              <a:buNone/>
            </a:pPr>
            <a:r>
              <a:rPr b="1" lang="fr" sz="1200"/>
              <a:t>Table Customers </a:t>
            </a:r>
            <a:endParaRPr b="1" sz="1200"/>
          </a:p>
          <a:p>
            <a:pPr indent="0" lvl="0" marL="0" marR="0" rtl="0" algn="ctr">
              <a:lnSpc>
                <a:spcPct val="100000"/>
              </a:lnSpc>
              <a:spcBef>
                <a:spcPts val="0"/>
              </a:spcBef>
              <a:spcAft>
                <a:spcPts val="0"/>
              </a:spcAft>
              <a:buNone/>
            </a:pPr>
            <a:r>
              <a:rPr b="1" lang="fr" sz="1200"/>
              <a:t>(378 lignes)</a:t>
            </a:r>
            <a:endParaRPr b="1" sz="1200"/>
          </a:p>
          <a:p>
            <a:pPr indent="0" lvl="0" marL="0" marR="0" rtl="0" algn="ctr">
              <a:lnSpc>
                <a:spcPct val="100000"/>
              </a:lnSpc>
              <a:spcBef>
                <a:spcPts val="0"/>
              </a:spcBef>
              <a:spcAft>
                <a:spcPts val="0"/>
              </a:spcAft>
              <a:buNone/>
            </a:pPr>
            <a:r>
              <a:t/>
            </a:r>
            <a:endParaRPr b="1" sz="1200"/>
          </a:p>
          <a:p>
            <a:pPr indent="0" lvl="0" marL="0" marR="0" rtl="0" algn="ctr">
              <a:lnSpc>
                <a:spcPct val="100000"/>
              </a:lnSpc>
              <a:spcBef>
                <a:spcPts val="0"/>
              </a:spcBef>
              <a:spcAft>
                <a:spcPts val="0"/>
              </a:spcAft>
              <a:buNone/>
            </a:pPr>
            <a:r>
              <a:rPr b="1" lang="fr" sz="1200"/>
              <a:t>Données FoxIntelligence</a:t>
            </a:r>
            <a:endParaRPr b="1" sz="1200"/>
          </a:p>
          <a:p>
            <a:pPr indent="0" lvl="0" marL="0" marR="0" rtl="0" algn="ctr">
              <a:lnSpc>
                <a:spcPct val="100000"/>
              </a:lnSpc>
              <a:spcBef>
                <a:spcPts val="0"/>
              </a:spcBef>
              <a:spcAft>
                <a:spcPts val="0"/>
              </a:spcAft>
              <a:buNone/>
            </a:pPr>
            <a:br>
              <a:rPr b="1" lang="fr" sz="1200"/>
            </a:br>
            <a:r>
              <a:rPr b="1" lang="fr" sz="1200"/>
              <a:t>Période : 2017 → juin 202</a:t>
            </a:r>
            <a:r>
              <a:rPr b="1" lang="fr" sz="1200"/>
              <a:t>0</a:t>
            </a:r>
            <a:endParaRPr b="1" sz="1200"/>
          </a:p>
        </p:txBody>
      </p:sp>
      <p:sp>
        <p:nvSpPr>
          <p:cNvPr id="152" name="Google Shape;152;p15"/>
          <p:cNvSpPr txBox="1"/>
          <p:nvPr>
            <p:ph idx="1" type="body"/>
          </p:nvPr>
        </p:nvSpPr>
        <p:spPr>
          <a:xfrm>
            <a:off x="3507300" y="1458250"/>
            <a:ext cx="2129400" cy="27144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None/>
            </a:pPr>
            <a:r>
              <a:rPr b="1" lang="fr" sz="1400"/>
              <a:t>② NETTOYAGE</a:t>
            </a:r>
            <a:endParaRPr b="1" sz="1400"/>
          </a:p>
          <a:p>
            <a:pPr indent="0" lvl="0" marL="0" marR="0" rtl="0" algn="ctr">
              <a:lnSpc>
                <a:spcPct val="100000"/>
              </a:lnSpc>
              <a:spcBef>
                <a:spcPts val="0"/>
              </a:spcBef>
              <a:spcAft>
                <a:spcPts val="0"/>
              </a:spcAft>
              <a:buNone/>
            </a:pPr>
            <a:r>
              <a:t/>
            </a:r>
            <a:endParaRPr b="1" sz="1200"/>
          </a:p>
          <a:p>
            <a:pPr indent="0" lvl="0" marL="0" marR="0" rtl="0" algn="ctr">
              <a:lnSpc>
                <a:spcPct val="100000"/>
              </a:lnSpc>
              <a:spcBef>
                <a:spcPts val="0"/>
              </a:spcBef>
              <a:spcAft>
                <a:spcPts val="0"/>
              </a:spcAft>
              <a:buNone/>
            </a:pPr>
            <a:r>
              <a:rPr b="1" lang="fr" sz="1200"/>
              <a:t>Analyse des valeurs manquantes</a:t>
            </a:r>
            <a:endParaRPr b="1" sz="1200"/>
          </a:p>
          <a:p>
            <a:pPr indent="0" lvl="0" marL="0" marR="0" rtl="0" algn="ctr">
              <a:lnSpc>
                <a:spcPct val="100000"/>
              </a:lnSpc>
              <a:spcBef>
                <a:spcPts val="0"/>
              </a:spcBef>
              <a:spcAft>
                <a:spcPts val="0"/>
              </a:spcAft>
              <a:buNone/>
            </a:pPr>
            <a:r>
              <a:t/>
            </a:r>
            <a:endParaRPr b="1" sz="1200"/>
          </a:p>
          <a:p>
            <a:pPr indent="0" lvl="0" marL="0" marR="0" rtl="0" algn="ctr">
              <a:lnSpc>
                <a:spcPct val="100000"/>
              </a:lnSpc>
              <a:spcBef>
                <a:spcPts val="0"/>
              </a:spcBef>
              <a:spcAft>
                <a:spcPts val="0"/>
              </a:spcAft>
              <a:buNone/>
            </a:pPr>
            <a:r>
              <a:rPr b="1" lang="fr" sz="1200"/>
              <a:t>Transformation des variables</a:t>
            </a:r>
            <a:endParaRPr b="1" sz="1200"/>
          </a:p>
          <a:p>
            <a:pPr indent="0" lvl="0" marL="0" marR="0" rtl="0" algn="ctr">
              <a:lnSpc>
                <a:spcPct val="100000"/>
              </a:lnSpc>
              <a:spcBef>
                <a:spcPts val="0"/>
              </a:spcBef>
              <a:spcAft>
                <a:spcPts val="0"/>
              </a:spcAft>
              <a:buNone/>
            </a:pPr>
            <a:r>
              <a:t/>
            </a:r>
            <a:endParaRPr b="1" sz="1200"/>
          </a:p>
          <a:p>
            <a:pPr indent="0" lvl="0" marL="0" marR="0" rtl="0" algn="ctr">
              <a:lnSpc>
                <a:spcPct val="100000"/>
              </a:lnSpc>
              <a:spcBef>
                <a:spcPts val="0"/>
              </a:spcBef>
              <a:spcAft>
                <a:spcPts val="0"/>
              </a:spcAft>
              <a:buNone/>
            </a:pPr>
            <a:r>
              <a:rPr b="1" lang="fr" sz="1200"/>
              <a:t>Contrôle des valeurs aberrantes</a:t>
            </a:r>
            <a:endParaRPr b="1" sz="1200"/>
          </a:p>
          <a:p>
            <a:pPr indent="0" lvl="0" marL="0" marR="0" rtl="0" algn="ctr">
              <a:lnSpc>
                <a:spcPct val="100000"/>
              </a:lnSpc>
              <a:spcBef>
                <a:spcPts val="0"/>
              </a:spcBef>
              <a:spcAft>
                <a:spcPts val="0"/>
              </a:spcAft>
              <a:buNone/>
            </a:pPr>
            <a:r>
              <a:t/>
            </a:r>
            <a:endParaRPr b="1" sz="1200"/>
          </a:p>
          <a:p>
            <a:pPr indent="0" lvl="0" marL="0" marR="0" rtl="0" algn="ctr">
              <a:lnSpc>
                <a:spcPct val="100000"/>
              </a:lnSpc>
              <a:spcBef>
                <a:spcPts val="0"/>
              </a:spcBef>
              <a:spcAft>
                <a:spcPts val="0"/>
              </a:spcAft>
              <a:buNone/>
            </a:pPr>
            <a:r>
              <a:rPr b="1" lang="fr" sz="1200"/>
              <a:t>Préparation des données pour l'analyse</a:t>
            </a:r>
            <a:endParaRPr b="1" sz="1200"/>
          </a:p>
        </p:txBody>
      </p:sp>
      <p:sp>
        <p:nvSpPr>
          <p:cNvPr id="153" name="Google Shape;153;p15"/>
          <p:cNvSpPr txBox="1"/>
          <p:nvPr>
            <p:ph idx="1" type="body"/>
          </p:nvPr>
        </p:nvSpPr>
        <p:spPr>
          <a:xfrm>
            <a:off x="6068100" y="1438750"/>
            <a:ext cx="2268300" cy="27144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None/>
            </a:pPr>
            <a:r>
              <a:rPr b="1" lang="fr" sz="1400"/>
              <a:t>③ PÉRIMÈTRE FINAL</a:t>
            </a:r>
            <a:endParaRPr b="1" sz="1400"/>
          </a:p>
          <a:p>
            <a:pPr indent="0" lvl="0" marL="0" marR="0" rtl="0" algn="ctr">
              <a:lnSpc>
                <a:spcPct val="100000"/>
              </a:lnSpc>
              <a:spcBef>
                <a:spcPts val="0"/>
              </a:spcBef>
              <a:spcAft>
                <a:spcPts val="0"/>
              </a:spcAft>
              <a:buNone/>
            </a:pPr>
            <a:r>
              <a:t/>
            </a:r>
            <a:endParaRPr b="1" sz="1200"/>
          </a:p>
          <a:p>
            <a:pPr indent="0" lvl="0" marL="0" marR="0" rtl="0" algn="ctr">
              <a:lnSpc>
                <a:spcPct val="100000"/>
              </a:lnSpc>
              <a:spcBef>
                <a:spcPts val="0"/>
              </a:spcBef>
              <a:spcAft>
                <a:spcPts val="0"/>
              </a:spcAft>
              <a:buNone/>
            </a:pPr>
            <a:r>
              <a:rPr b="1" lang="fr" sz="1200"/>
              <a:t>Table Transactions </a:t>
            </a:r>
            <a:endParaRPr b="1" sz="1200"/>
          </a:p>
          <a:p>
            <a:pPr indent="0" lvl="0" marL="0" marR="0" rtl="0" algn="ctr">
              <a:lnSpc>
                <a:spcPct val="100000"/>
              </a:lnSpc>
              <a:spcBef>
                <a:spcPts val="0"/>
              </a:spcBef>
              <a:spcAft>
                <a:spcPts val="0"/>
              </a:spcAft>
              <a:buNone/>
            </a:pPr>
            <a:r>
              <a:rPr b="1" lang="fr" sz="1200"/>
              <a:t>(</a:t>
            </a:r>
            <a:r>
              <a:rPr b="1" lang="fr" sz="1200"/>
              <a:t>671 545 lignes)</a:t>
            </a:r>
            <a:endParaRPr b="1" sz="1200"/>
          </a:p>
          <a:p>
            <a:pPr indent="0" lvl="0" marL="0" marR="0" rtl="0" algn="ctr">
              <a:lnSpc>
                <a:spcPct val="100000"/>
              </a:lnSpc>
              <a:spcBef>
                <a:spcPts val="0"/>
              </a:spcBef>
              <a:spcAft>
                <a:spcPts val="0"/>
              </a:spcAft>
              <a:buNone/>
            </a:pPr>
            <a:r>
              <a:t/>
            </a:r>
            <a:endParaRPr b="1" sz="1200"/>
          </a:p>
          <a:p>
            <a:pPr indent="0" lvl="0" marL="0" rtl="0" algn="ctr">
              <a:lnSpc>
                <a:spcPct val="100000"/>
              </a:lnSpc>
              <a:spcBef>
                <a:spcPts val="0"/>
              </a:spcBef>
              <a:spcAft>
                <a:spcPts val="0"/>
              </a:spcAft>
              <a:buNone/>
            </a:pPr>
            <a:r>
              <a:rPr b="1" lang="fr" sz="1200"/>
              <a:t>Table Customers </a:t>
            </a:r>
            <a:endParaRPr b="1" sz="1200"/>
          </a:p>
          <a:p>
            <a:pPr indent="0" lvl="0" marL="0" rtl="0" algn="ctr">
              <a:lnSpc>
                <a:spcPct val="100000"/>
              </a:lnSpc>
              <a:spcBef>
                <a:spcPts val="0"/>
              </a:spcBef>
              <a:spcAft>
                <a:spcPts val="0"/>
              </a:spcAft>
              <a:buNone/>
            </a:pPr>
            <a:r>
              <a:rPr b="1" lang="fr" sz="1200"/>
              <a:t>(378 lignes)</a:t>
            </a:r>
            <a:endParaRPr b="1" sz="1200"/>
          </a:p>
          <a:p>
            <a:pPr indent="0" lvl="0" marL="0" marR="0" rtl="0" algn="ctr">
              <a:lnSpc>
                <a:spcPct val="100000"/>
              </a:lnSpc>
              <a:spcBef>
                <a:spcPts val="0"/>
              </a:spcBef>
              <a:spcAft>
                <a:spcPts val="0"/>
              </a:spcAft>
              <a:buNone/>
            </a:pPr>
            <a:r>
              <a:t/>
            </a:r>
            <a:endParaRPr b="1" sz="1200"/>
          </a:p>
          <a:p>
            <a:pPr indent="0" lvl="0" marL="0" marR="0" rtl="0" algn="ctr">
              <a:lnSpc>
                <a:spcPct val="100000"/>
              </a:lnSpc>
              <a:spcBef>
                <a:spcPts val="0"/>
              </a:spcBef>
              <a:spcAft>
                <a:spcPts val="0"/>
              </a:spcAft>
              <a:buNone/>
            </a:pPr>
            <a:r>
              <a:rPr b="1" lang="fr" sz="1200"/>
              <a:t>Uber Eats + Deliveroo</a:t>
            </a:r>
            <a:endParaRPr b="1" sz="1200"/>
          </a:p>
          <a:p>
            <a:pPr indent="0" lvl="0" marL="0" marR="0" rtl="0" algn="ctr">
              <a:lnSpc>
                <a:spcPct val="100000"/>
              </a:lnSpc>
              <a:spcBef>
                <a:spcPts val="0"/>
              </a:spcBef>
              <a:spcAft>
                <a:spcPts val="0"/>
              </a:spcAft>
              <a:buNone/>
            </a:pPr>
            <a:r>
              <a:t/>
            </a:r>
            <a:endParaRPr b="1" sz="1400"/>
          </a:p>
        </p:txBody>
      </p:sp>
      <p:sp>
        <p:nvSpPr>
          <p:cNvPr id="154" name="Google Shape;154;p15"/>
          <p:cNvSpPr txBox="1"/>
          <p:nvPr>
            <p:ph idx="2" type="body"/>
          </p:nvPr>
        </p:nvSpPr>
        <p:spPr>
          <a:xfrm>
            <a:off x="452700" y="4509375"/>
            <a:ext cx="8238600" cy="37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rmAutofit fontScale="92500" lnSpcReduction="20000"/>
          </a:bodyPr>
          <a:lstStyle/>
          <a:p>
            <a:pPr indent="0" lvl="0" marL="0" rtl="0" algn="ctr">
              <a:spcBef>
                <a:spcPts val="0"/>
              </a:spcBef>
              <a:spcAft>
                <a:spcPts val="1200"/>
              </a:spcAft>
              <a:buNone/>
            </a:pPr>
            <a:r>
              <a:rPr b="1" lang="fr"/>
              <a:t>PRÉCISION :  La plateforme de livraison </a:t>
            </a:r>
            <a:r>
              <a:rPr b="1" lang="fr" sz="1400"/>
              <a:t>Ju</a:t>
            </a:r>
            <a:r>
              <a:rPr b="1" lang="fr"/>
              <a:t>st Eat a été exclue de nos analyses (34 183 lignes de commandes).</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6"/>
          <p:cNvSpPr txBox="1"/>
          <p:nvPr>
            <p:ph type="title"/>
          </p:nvPr>
        </p:nvSpPr>
        <p:spPr>
          <a:xfrm>
            <a:off x="1297500" y="393750"/>
            <a:ext cx="7038900" cy="811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fr"/>
              <a:t>LE MARCHÉ OBSERVÉ </a:t>
            </a:r>
            <a:endParaRPr/>
          </a:p>
          <a:p>
            <a:pPr indent="0" lvl="0" marL="0" rtl="0" algn="l">
              <a:spcBef>
                <a:spcPts val="0"/>
              </a:spcBef>
              <a:spcAft>
                <a:spcPts val="0"/>
              </a:spcAft>
              <a:buNone/>
            </a:pPr>
            <a:r>
              <a:rPr lang="fr" sz="2178"/>
              <a:t>Un marché large et déjà structuré </a:t>
            </a:r>
            <a:endParaRPr sz="2178"/>
          </a:p>
        </p:txBody>
      </p:sp>
      <p:sp>
        <p:nvSpPr>
          <p:cNvPr id="160" name="Google Shape;160;p16"/>
          <p:cNvSpPr txBox="1"/>
          <p:nvPr>
            <p:ph idx="2" type="body"/>
          </p:nvPr>
        </p:nvSpPr>
        <p:spPr>
          <a:xfrm>
            <a:off x="391500" y="3937625"/>
            <a:ext cx="8361000" cy="6891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b="1" lang="fr"/>
              <a:t>« Le marché est suffisamment important et diversifié pour représenter une opportunité, mais Bolt doit trouver un positionnement pertinent. »  </a:t>
            </a:r>
            <a:endParaRPr b="1"/>
          </a:p>
        </p:txBody>
      </p:sp>
      <p:sp>
        <p:nvSpPr>
          <p:cNvPr id="161" name="Google Shape;161;p16"/>
          <p:cNvSpPr txBox="1"/>
          <p:nvPr>
            <p:ph idx="2" type="body"/>
          </p:nvPr>
        </p:nvSpPr>
        <p:spPr>
          <a:xfrm>
            <a:off x="881400" y="1583950"/>
            <a:ext cx="2090400" cy="72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None/>
            </a:pPr>
            <a:r>
              <a:rPr b="1" lang="fr" sz="1400"/>
              <a:t>671 545</a:t>
            </a:r>
            <a:endParaRPr b="1" sz="1400"/>
          </a:p>
          <a:p>
            <a:pPr indent="0" lvl="0" marL="0" marR="0" rtl="0" algn="ctr">
              <a:lnSpc>
                <a:spcPct val="100000"/>
              </a:lnSpc>
              <a:spcBef>
                <a:spcPts val="0"/>
              </a:spcBef>
              <a:spcAft>
                <a:spcPts val="0"/>
              </a:spcAft>
              <a:buNone/>
            </a:pPr>
            <a:r>
              <a:rPr b="1" lang="fr" sz="1400"/>
              <a:t>Commandes</a:t>
            </a:r>
            <a:endParaRPr b="1" sz="1400"/>
          </a:p>
        </p:txBody>
      </p:sp>
      <p:sp>
        <p:nvSpPr>
          <p:cNvPr id="162" name="Google Shape;162;p16"/>
          <p:cNvSpPr txBox="1"/>
          <p:nvPr>
            <p:ph idx="2" type="body"/>
          </p:nvPr>
        </p:nvSpPr>
        <p:spPr>
          <a:xfrm>
            <a:off x="3771750" y="1583950"/>
            <a:ext cx="2090400" cy="72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None/>
            </a:pPr>
            <a:r>
              <a:rPr b="1" lang="fr" sz="1400"/>
              <a:t>2</a:t>
            </a:r>
            <a:r>
              <a:rPr b="1" lang="fr" sz="1400"/>
              <a:t>1 821</a:t>
            </a:r>
            <a:endParaRPr b="1" sz="1400"/>
          </a:p>
          <a:p>
            <a:pPr indent="0" lvl="0" marL="0" marR="0" rtl="0" algn="ctr">
              <a:lnSpc>
                <a:spcPct val="100000"/>
              </a:lnSpc>
              <a:spcBef>
                <a:spcPts val="0"/>
              </a:spcBef>
              <a:spcAft>
                <a:spcPts val="0"/>
              </a:spcAft>
              <a:buNone/>
            </a:pPr>
            <a:r>
              <a:rPr b="1" lang="fr" sz="1400"/>
              <a:t>Restaurant</a:t>
            </a:r>
            <a:endParaRPr b="1" sz="1400"/>
          </a:p>
        </p:txBody>
      </p:sp>
      <p:sp>
        <p:nvSpPr>
          <p:cNvPr id="163" name="Google Shape;163;p16"/>
          <p:cNvSpPr txBox="1"/>
          <p:nvPr>
            <p:ph idx="2" type="body"/>
          </p:nvPr>
        </p:nvSpPr>
        <p:spPr>
          <a:xfrm>
            <a:off x="6662100" y="1583950"/>
            <a:ext cx="2090400" cy="72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None/>
            </a:pPr>
            <a:r>
              <a:rPr b="1" lang="fr" sz="1400"/>
              <a:t>15,83 M €</a:t>
            </a:r>
            <a:endParaRPr b="1" sz="1400"/>
          </a:p>
          <a:p>
            <a:pPr indent="0" lvl="0" marL="0" marR="0" rtl="0" algn="ctr">
              <a:lnSpc>
                <a:spcPct val="100000"/>
              </a:lnSpc>
              <a:spcBef>
                <a:spcPts val="0"/>
              </a:spcBef>
              <a:spcAft>
                <a:spcPts val="0"/>
              </a:spcAft>
              <a:buNone/>
            </a:pPr>
            <a:r>
              <a:rPr b="1" lang="fr" sz="1400"/>
              <a:t>Chiffre d’affaires</a:t>
            </a:r>
            <a:endParaRPr b="1" sz="1400"/>
          </a:p>
        </p:txBody>
      </p:sp>
      <p:sp>
        <p:nvSpPr>
          <p:cNvPr id="164" name="Google Shape;164;p16"/>
          <p:cNvSpPr txBox="1"/>
          <p:nvPr>
            <p:ph idx="2" type="body"/>
          </p:nvPr>
        </p:nvSpPr>
        <p:spPr>
          <a:xfrm>
            <a:off x="2260675" y="2991825"/>
            <a:ext cx="2090400" cy="72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rmAutofit lnSpcReduction="20000"/>
          </a:bodyPr>
          <a:lstStyle/>
          <a:p>
            <a:pPr indent="0" lvl="0" marL="0" rtl="0" algn="ctr">
              <a:lnSpc>
                <a:spcPct val="100000"/>
              </a:lnSpc>
              <a:spcBef>
                <a:spcPts val="0"/>
              </a:spcBef>
              <a:spcAft>
                <a:spcPts val="0"/>
              </a:spcAft>
              <a:buNone/>
            </a:pPr>
            <a:r>
              <a:rPr b="1" lang="fr" sz="1400"/>
              <a:t>2 Enseignes de plateformes de livraison</a:t>
            </a:r>
            <a:endParaRPr b="1" sz="1400"/>
          </a:p>
        </p:txBody>
      </p:sp>
      <p:sp>
        <p:nvSpPr>
          <p:cNvPr id="165" name="Google Shape;165;p16"/>
          <p:cNvSpPr txBox="1"/>
          <p:nvPr>
            <p:ph idx="2" type="body"/>
          </p:nvPr>
        </p:nvSpPr>
        <p:spPr>
          <a:xfrm>
            <a:off x="5274975" y="2991825"/>
            <a:ext cx="2090400" cy="724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None/>
            </a:pPr>
            <a:r>
              <a:rPr b="1" lang="fr" sz="1400"/>
              <a:t>32 Catégories de restaurants</a:t>
            </a:r>
            <a:endParaRPr b="1"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QUI SONT LES CLIENTS ? </a:t>
            </a:r>
            <a:r>
              <a:rPr lang="fr"/>
              <a:t> </a:t>
            </a:r>
            <a:endParaRPr/>
          </a:p>
          <a:p>
            <a:pPr indent="0" lvl="0" marL="0" rtl="0" algn="l">
              <a:spcBef>
                <a:spcPts val="0"/>
              </a:spcBef>
              <a:spcAft>
                <a:spcPts val="0"/>
              </a:spcAft>
              <a:buNone/>
            </a:pPr>
            <a:r>
              <a:rPr lang="fr" sz="1978"/>
              <a:t>Un profil client identifiable sur le marché observé</a:t>
            </a:r>
            <a:endParaRPr sz="1978"/>
          </a:p>
        </p:txBody>
      </p:sp>
      <p:sp>
        <p:nvSpPr>
          <p:cNvPr id="171" name="Google Shape;171;p17"/>
          <p:cNvSpPr txBox="1"/>
          <p:nvPr/>
        </p:nvSpPr>
        <p:spPr>
          <a:xfrm>
            <a:off x="1283850" y="4258850"/>
            <a:ext cx="6576300" cy="6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lt1"/>
                </a:solidFill>
                <a:latin typeface="Lato"/>
                <a:ea typeface="Lato"/>
                <a:cs typeface="Lato"/>
                <a:sym typeface="Lato"/>
              </a:rPr>
              <a:t>« La clientèle observée est principalement concentrée sur les générations Y et Z, un segment à considérer prioritairement dans la stratégie d'entrée sur le marché. » </a:t>
            </a:r>
            <a:endParaRPr sz="1300">
              <a:solidFill>
                <a:schemeClr val="lt1"/>
              </a:solidFill>
              <a:latin typeface="Lato"/>
              <a:ea typeface="Lato"/>
              <a:cs typeface="Lato"/>
              <a:sym typeface="Lato"/>
            </a:endParaRPr>
          </a:p>
        </p:txBody>
      </p:sp>
      <p:pic>
        <p:nvPicPr>
          <p:cNvPr id="172" name="Google Shape;172;p17" title="Capture d'écran 2026-08-27 215031.png"/>
          <p:cNvPicPr preferRelativeResize="0"/>
          <p:nvPr/>
        </p:nvPicPr>
        <p:blipFill rotWithShape="1">
          <a:blip r:embed="rId3">
            <a:alphaModFix/>
          </a:blip>
          <a:srcRect b="0" l="1137" r="0" t="0"/>
          <a:stretch/>
        </p:blipFill>
        <p:spPr>
          <a:xfrm>
            <a:off x="2632629" y="1442150"/>
            <a:ext cx="4368633" cy="2604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ÉVOLUTION DE LA CLIENTÈLE </a:t>
            </a:r>
            <a:r>
              <a:rPr lang="fr"/>
              <a:t> </a:t>
            </a:r>
            <a:endParaRPr/>
          </a:p>
          <a:p>
            <a:pPr indent="0" lvl="0" marL="0" rtl="0" algn="l">
              <a:spcBef>
                <a:spcPts val="0"/>
              </a:spcBef>
              <a:spcAft>
                <a:spcPts val="0"/>
              </a:spcAft>
              <a:buNone/>
            </a:pPr>
            <a:r>
              <a:rPr lang="fr" sz="1978"/>
              <a:t>Une dynamique qui varie au fil des mois </a:t>
            </a:r>
            <a:endParaRPr sz="1978"/>
          </a:p>
        </p:txBody>
      </p:sp>
      <p:sp>
        <p:nvSpPr>
          <p:cNvPr id="178" name="Google Shape;178;p18"/>
          <p:cNvSpPr txBox="1"/>
          <p:nvPr/>
        </p:nvSpPr>
        <p:spPr>
          <a:xfrm>
            <a:off x="1687425" y="4327314"/>
            <a:ext cx="6576300" cy="4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lt1"/>
                </a:solidFill>
                <a:latin typeface="Lato"/>
                <a:ea typeface="Lato"/>
                <a:cs typeface="Lato"/>
                <a:sym typeface="Lato"/>
              </a:rPr>
              <a:t>« La clientèle observée a fortement progressé sur la période, malgré des fluctuations. » </a:t>
            </a:r>
            <a:endParaRPr sz="1300">
              <a:solidFill>
                <a:schemeClr val="lt1"/>
              </a:solidFill>
              <a:latin typeface="Lato"/>
              <a:ea typeface="Lato"/>
              <a:cs typeface="Lato"/>
              <a:sym typeface="Lato"/>
            </a:endParaRPr>
          </a:p>
        </p:txBody>
      </p:sp>
      <p:sp>
        <p:nvSpPr>
          <p:cNvPr id="179" name="Google Shape;179;p18"/>
          <p:cNvSpPr/>
          <p:nvPr/>
        </p:nvSpPr>
        <p:spPr>
          <a:xfrm>
            <a:off x="463000" y="2114700"/>
            <a:ext cx="1119450" cy="914100"/>
          </a:xfrm>
          <a:prstGeom prst="flowChart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fr">
                <a:solidFill>
                  <a:schemeClr val="lt1"/>
                </a:solidFill>
                <a:latin typeface="Lato"/>
                <a:ea typeface="Lato"/>
                <a:cs typeface="Lato"/>
                <a:sym typeface="Lato"/>
              </a:rPr>
              <a:t>× 9 environ depuis 2017 </a:t>
            </a:r>
            <a:endParaRPr b="1">
              <a:solidFill>
                <a:schemeClr val="lt1"/>
              </a:solidFill>
              <a:latin typeface="Lato"/>
              <a:ea typeface="Lato"/>
              <a:cs typeface="Lato"/>
              <a:sym typeface="Lato"/>
            </a:endParaRPr>
          </a:p>
        </p:txBody>
      </p:sp>
      <p:pic>
        <p:nvPicPr>
          <p:cNvPr id="180" name="Google Shape;180;p18" title="Capture d'écran 2026-08-27 214237.png"/>
          <p:cNvPicPr preferRelativeResize="0"/>
          <p:nvPr/>
        </p:nvPicPr>
        <p:blipFill>
          <a:blip r:embed="rId3">
            <a:alphaModFix/>
          </a:blip>
          <a:stretch>
            <a:fillRect/>
          </a:stretch>
        </p:blipFill>
        <p:spPr>
          <a:xfrm>
            <a:off x="1829475" y="1594013"/>
            <a:ext cx="6959776" cy="2447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9"/>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COMMENT SE STRUCTURE L'OFFRE ? </a:t>
            </a:r>
            <a:r>
              <a:rPr lang="fr"/>
              <a:t>  </a:t>
            </a:r>
            <a:endParaRPr/>
          </a:p>
          <a:p>
            <a:pPr indent="0" lvl="0" marL="0" rtl="0" algn="l">
              <a:spcBef>
                <a:spcPts val="0"/>
              </a:spcBef>
              <a:spcAft>
                <a:spcPts val="0"/>
              </a:spcAft>
              <a:buNone/>
            </a:pPr>
            <a:r>
              <a:rPr lang="fr" sz="1978"/>
              <a:t>Un marché composé de deux plateformes et d'une offre de restauration très large </a:t>
            </a:r>
            <a:endParaRPr sz="1978"/>
          </a:p>
        </p:txBody>
      </p:sp>
      <p:sp>
        <p:nvSpPr>
          <p:cNvPr id="186" name="Google Shape;186;p19"/>
          <p:cNvSpPr txBox="1"/>
          <p:nvPr/>
        </p:nvSpPr>
        <p:spPr>
          <a:xfrm>
            <a:off x="1105600" y="4219700"/>
            <a:ext cx="7155600" cy="44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lt1"/>
                </a:solidFill>
                <a:latin typeface="Lato"/>
                <a:ea typeface="Lato"/>
                <a:cs typeface="Lato"/>
                <a:sym typeface="Lato"/>
              </a:rPr>
              <a:t>« </a:t>
            </a:r>
            <a:r>
              <a:rPr lang="fr" sz="1300">
                <a:solidFill>
                  <a:schemeClr val="lt1"/>
                </a:solidFill>
                <a:latin typeface="Lato"/>
                <a:ea typeface="Lato"/>
                <a:cs typeface="Lato"/>
                <a:sym typeface="Lato"/>
              </a:rPr>
              <a:t>U</a:t>
            </a:r>
            <a:r>
              <a:rPr lang="fr" sz="1300">
                <a:solidFill>
                  <a:schemeClr val="lt1"/>
                </a:solidFill>
                <a:latin typeface="Lato"/>
                <a:ea typeface="Lato"/>
                <a:cs typeface="Lato"/>
                <a:sym typeface="Lato"/>
              </a:rPr>
              <a:t>ne offre concentrée autour de deux plateformes, mais très diversifiée côté restauration. » </a:t>
            </a:r>
            <a:r>
              <a:rPr lang="fr" sz="1300">
                <a:solidFill>
                  <a:schemeClr val="lt1"/>
                </a:solidFill>
                <a:latin typeface="Lato"/>
                <a:ea typeface="Lato"/>
                <a:cs typeface="Lato"/>
                <a:sym typeface="Lato"/>
              </a:rPr>
              <a:t> </a:t>
            </a:r>
            <a:endParaRPr sz="1300">
              <a:solidFill>
                <a:schemeClr val="lt1"/>
              </a:solidFill>
              <a:latin typeface="Lato"/>
              <a:ea typeface="Lato"/>
              <a:cs typeface="Lato"/>
              <a:sym typeface="Lato"/>
            </a:endParaRPr>
          </a:p>
        </p:txBody>
      </p:sp>
      <p:pic>
        <p:nvPicPr>
          <p:cNvPr id="187" name="Google Shape;187;p19" title="Capture d'écran 2026-08-27 161457.png"/>
          <p:cNvPicPr preferRelativeResize="0"/>
          <p:nvPr/>
        </p:nvPicPr>
        <p:blipFill>
          <a:blip r:embed="rId3">
            <a:alphaModFix/>
          </a:blip>
          <a:stretch>
            <a:fillRect/>
          </a:stretch>
        </p:blipFill>
        <p:spPr>
          <a:xfrm>
            <a:off x="3602700" y="2966200"/>
            <a:ext cx="2121600" cy="819150"/>
          </a:xfrm>
          <a:prstGeom prst="rect">
            <a:avLst/>
          </a:prstGeom>
          <a:noFill/>
          <a:ln>
            <a:noFill/>
          </a:ln>
        </p:spPr>
      </p:pic>
      <p:pic>
        <p:nvPicPr>
          <p:cNvPr id="188" name="Google Shape;188;p19" title="Capture d'écran 2026-08-27 161507.png"/>
          <p:cNvPicPr preferRelativeResize="0"/>
          <p:nvPr/>
        </p:nvPicPr>
        <p:blipFill>
          <a:blip r:embed="rId4">
            <a:alphaModFix/>
          </a:blip>
          <a:stretch>
            <a:fillRect/>
          </a:stretch>
        </p:blipFill>
        <p:spPr>
          <a:xfrm>
            <a:off x="6378025" y="2975725"/>
            <a:ext cx="2121600" cy="800100"/>
          </a:xfrm>
          <a:prstGeom prst="rect">
            <a:avLst/>
          </a:prstGeom>
          <a:noFill/>
          <a:ln>
            <a:noFill/>
          </a:ln>
        </p:spPr>
      </p:pic>
      <p:sp>
        <p:nvSpPr>
          <p:cNvPr id="189" name="Google Shape;189;p19"/>
          <p:cNvSpPr/>
          <p:nvPr/>
        </p:nvSpPr>
        <p:spPr>
          <a:xfrm>
            <a:off x="775025" y="1955222"/>
            <a:ext cx="2121600" cy="75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fr">
                <a:solidFill>
                  <a:schemeClr val="lt1"/>
                </a:solidFill>
                <a:latin typeface="Lato"/>
                <a:ea typeface="Lato"/>
                <a:cs typeface="Lato"/>
                <a:sym typeface="Lato"/>
              </a:rPr>
              <a:t>PLATEFORMES </a:t>
            </a:r>
            <a:endParaRPr b="1">
              <a:solidFill>
                <a:schemeClr val="lt1"/>
              </a:solidFill>
              <a:latin typeface="Lato"/>
              <a:ea typeface="Lato"/>
              <a:cs typeface="Lato"/>
              <a:sym typeface="Lato"/>
            </a:endParaRPr>
          </a:p>
          <a:p>
            <a:pPr indent="0" lvl="0" marL="0" marR="0" rtl="0" algn="ctr">
              <a:lnSpc>
                <a:spcPct val="100000"/>
              </a:lnSpc>
              <a:spcBef>
                <a:spcPts val="0"/>
              </a:spcBef>
              <a:spcAft>
                <a:spcPts val="0"/>
              </a:spcAft>
              <a:buNone/>
            </a:pPr>
            <a:r>
              <a:rPr b="1" lang="fr">
                <a:solidFill>
                  <a:schemeClr val="lt1"/>
                </a:solidFill>
                <a:latin typeface="Lato"/>
                <a:ea typeface="Lato"/>
                <a:cs typeface="Lato"/>
                <a:sym typeface="Lato"/>
              </a:rPr>
              <a:t>DE LIVRAISON</a:t>
            </a:r>
            <a:endParaRPr b="1">
              <a:solidFill>
                <a:schemeClr val="lt1"/>
              </a:solidFill>
              <a:latin typeface="Lato"/>
              <a:ea typeface="Lato"/>
              <a:cs typeface="Lato"/>
              <a:sym typeface="Lato"/>
            </a:endParaRPr>
          </a:p>
        </p:txBody>
      </p:sp>
      <p:pic>
        <p:nvPicPr>
          <p:cNvPr id="190" name="Google Shape;190;p19" title="UberEats_v1_Logo.jpg"/>
          <p:cNvPicPr preferRelativeResize="0"/>
          <p:nvPr/>
        </p:nvPicPr>
        <p:blipFill>
          <a:blip r:embed="rId5">
            <a:alphaModFix/>
          </a:blip>
          <a:stretch>
            <a:fillRect/>
          </a:stretch>
        </p:blipFill>
        <p:spPr>
          <a:xfrm>
            <a:off x="775012" y="2975724"/>
            <a:ext cx="938550" cy="800100"/>
          </a:xfrm>
          <a:prstGeom prst="rect">
            <a:avLst/>
          </a:prstGeom>
          <a:noFill/>
          <a:ln>
            <a:noFill/>
          </a:ln>
        </p:spPr>
      </p:pic>
      <p:pic>
        <p:nvPicPr>
          <p:cNvPr id="191" name="Google Shape;191;p19" title="599-5999283_deliveroo-png-transparent-png.png"/>
          <p:cNvPicPr preferRelativeResize="0"/>
          <p:nvPr/>
        </p:nvPicPr>
        <p:blipFill>
          <a:blip r:embed="rId6">
            <a:alphaModFix/>
          </a:blip>
          <a:stretch>
            <a:fillRect/>
          </a:stretch>
        </p:blipFill>
        <p:spPr>
          <a:xfrm>
            <a:off x="2032888" y="2975725"/>
            <a:ext cx="823925" cy="800100"/>
          </a:xfrm>
          <a:prstGeom prst="rect">
            <a:avLst/>
          </a:prstGeom>
          <a:noFill/>
          <a:ln>
            <a:noFill/>
          </a:ln>
        </p:spPr>
      </p:pic>
      <p:sp>
        <p:nvSpPr>
          <p:cNvPr id="192" name="Google Shape;192;p19"/>
          <p:cNvSpPr/>
          <p:nvPr/>
        </p:nvSpPr>
        <p:spPr>
          <a:xfrm>
            <a:off x="6378025" y="1955222"/>
            <a:ext cx="2121600" cy="75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fr">
                <a:solidFill>
                  <a:schemeClr val="lt1"/>
                </a:solidFill>
                <a:latin typeface="Lato"/>
                <a:ea typeface="Lato"/>
                <a:cs typeface="Lato"/>
                <a:sym typeface="Lato"/>
              </a:rPr>
              <a:t>TYPES DE CUISINES</a:t>
            </a:r>
            <a:endParaRPr b="1">
              <a:solidFill>
                <a:schemeClr val="lt1"/>
              </a:solidFill>
              <a:latin typeface="Lato"/>
              <a:ea typeface="Lato"/>
              <a:cs typeface="Lato"/>
              <a:sym typeface="Lato"/>
            </a:endParaRPr>
          </a:p>
        </p:txBody>
      </p:sp>
      <p:sp>
        <p:nvSpPr>
          <p:cNvPr id="193" name="Google Shape;193;p19"/>
          <p:cNvSpPr/>
          <p:nvPr/>
        </p:nvSpPr>
        <p:spPr>
          <a:xfrm>
            <a:off x="3602688" y="1955222"/>
            <a:ext cx="2121600" cy="75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fr">
                <a:solidFill>
                  <a:schemeClr val="lt1"/>
                </a:solidFill>
                <a:latin typeface="Lato"/>
                <a:ea typeface="Lato"/>
                <a:cs typeface="Lato"/>
                <a:sym typeface="Lato"/>
              </a:rPr>
              <a:t>RESTAURANTS RÉFÉRENCÉS</a:t>
            </a:r>
            <a:endParaRPr b="1">
              <a:solidFill>
                <a:schemeClr val="l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QUI DOMINE LE MARCHÉ ? </a:t>
            </a:r>
            <a:r>
              <a:rPr lang="fr"/>
              <a:t>  </a:t>
            </a:r>
            <a:endParaRPr/>
          </a:p>
          <a:p>
            <a:pPr indent="0" lvl="0" marL="0" rtl="0" algn="l">
              <a:spcBef>
                <a:spcPts val="0"/>
              </a:spcBef>
              <a:spcAft>
                <a:spcPts val="0"/>
              </a:spcAft>
              <a:buNone/>
            </a:pPr>
            <a:r>
              <a:rPr lang="fr" sz="1978"/>
              <a:t>Uber Eats domine en volume et en valeur </a:t>
            </a:r>
            <a:endParaRPr sz="1978"/>
          </a:p>
        </p:txBody>
      </p:sp>
      <p:sp>
        <p:nvSpPr>
          <p:cNvPr id="199" name="Google Shape;199;p20"/>
          <p:cNvSpPr txBox="1"/>
          <p:nvPr/>
        </p:nvSpPr>
        <p:spPr>
          <a:xfrm>
            <a:off x="1105600" y="4485125"/>
            <a:ext cx="7230900" cy="40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lt1"/>
                </a:solidFill>
                <a:latin typeface="Lato"/>
                <a:ea typeface="Lato"/>
                <a:cs typeface="Lato"/>
                <a:sym typeface="Lato"/>
              </a:rPr>
              <a:t>«  </a:t>
            </a:r>
            <a:r>
              <a:rPr lang="fr" sz="1300">
                <a:solidFill>
                  <a:schemeClr val="lt1"/>
                </a:solidFill>
                <a:latin typeface="Lato"/>
                <a:ea typeface="Lato"/>
                <a:cs typeface="Lato"/>
                <a:sym typeface="Lato"/>
              </a:rPr>
              <a:t>Uber Eats apparaît donc comme le leader de notre périmètre d'analyse, mais cette domination doit être nuancée selon l'indicateur utilisé. </a:t>
            </a:r>
            <a:r>
              <a:rPr lang="fr" sz="1300">
                <a:solidFill>
                  <a:schemeClr val="lt1"/>
                </a:solidFill>
                <a:latin typeface="Lato"/>
                <a:ea typeface="Lato"/>
                <a:cs typeface="Lato"/>
                <a:sym typeface="Lato"/>
              </a:rPr>
              <a:t>»  </a:t>
            </a:r>
            <a:endParaRPr sz="1300">
              <a:solidFill>
                <a:schemeClr val="lt1"/>
              </a:solidFill>
              <a:latin typeface="Lato"/>
              <a:ea typeface="Lato"/>
              <a:cs typeface="Lato"/>
              <a:sym typeface="Lato"/>
            </a:endParaRPr>
          </a:p>
        </p:txBody>
      </p:sp>
      <p:pic>
        <p:nvPicPr>
          <p:cNvPr id="200" name="Google Shape;200;p20"/>
          <p:cNvPicPr preferRelativeResize="0"/>
          <p:nvPr/>
        </p:nvPicPr>
        <p:blipFill>
          <a:blip r:embed="rId3">
            <a:alphaModFix/>
          </a:blip>
          <a:stretch>
            <a:fillRect/>
          </a:stretch>
        </p:blipFill>
        <p:spPr>
          <a:xfrm>
            <a:off x="7142587" y="1891574"/>
            <a:ext cx="1528811" cy="495489"/>
          </a:xfrm>
          <a:prstGeom prst="rect">
            <a:avLst/>
          </a:prstGeom>
          <a:noFill/>
          <a:ln>
            <a:noFill/>
          </a:ln>
        </p:spPr>
      </p:pic>
      <p:pic>
        <p:nvPicPr>
          <p:cNvPr id="201" name="Google Shape;201;p20"/>
          <p:cNvPicPr preferRelativeResize="0"/>
          <p:nvPr/>
        </p:nvPicPr>
        <p:blipFill>
          <a:blip r:embed="rId4">
            <a:alphaModFix/>
          </a:blip>
          <a:stretch>
            <a:fillRect/>
          </a:stretch>
        </p:blipFill>
        <p:spPr>
          <a:xfrm>
            <a:off x="7142587" y="1251725"/>
            <a:ext cx="1528812" cy="477903"/>
          </a:xfrm>
          <a:prstGeom prst="rect">
            <a:avLst/>
          </a:prstGeom>
          <a:noFill/>
          <a:ln>
            <a:noFill/>
          </a:ln>
        </p:spPr>
      </p:pic>
      <p:pic>
        <p:nvPicPr>
          <p:cNvPr id="202" name="Google Shape;202;p20" title="Capture d'écran 2026-08-27 165433.png"/>
          <p:cNvPicPr preferRelativeResize="0"/>
          <p:nvPr/>
        </p:nvPicPr>
        <p:blipFill>
          <a:blip r:embed="rId5">
            <a:alphaModFix/>
          </a:blip>
          <a:stretch>
            <a:fillRect/>
          </a:stretch>
        </p:blipFill>
        <p:spPr>
          <a:xfrm>
            <a:off x="1105599" y="1251724"/>
            <a:ext cx="3010474" cy="1402230"/>
          </a:xfrm>
          <a:prstGeom prst="rect">
            <a:avLst/>
          </a:prstGeom>
          <a:noFill/>
          <a:ln>
            <a:noFill/>
          </a:ln>
        </p:spPr>
      </p:pic>
      <p:pic>
        <p:nvPicPr>
          <p:cNvPr id="203" name="Google Shape;203;p20" title="Capture d'écran 2026-08-27 165418.png"/>
          <p:cNvPicPr preferRelativeResize="0"/>
          <p:nvPr/>
        </p:nvPicPr>
        <p:blipFill>
          <a:blip r:embed="rId6">
            <a:alphaModFix/>
          </a:blip>
          <a:stretch>
            <a:fillRect/>
          </a:stretch>
        </p:blipFill>
        <p:spPr>
          <a:xfrm>
            <a:off x="1105588" y="2747162"/>
            <a:ext cx="4600216" cy="1644775"/>
          </a:xfrm>
          <a:prstGeom prst="rect">
            <a:avLst/>
          </a:prstGeom>
          <a:noFill/>
          <a:ln>
            <a:noFill/>
          </a:ln>
        </p:spPr>
      </p:pic>
      <p:pic>
        <p:nvPicPr>
          <p:cNvPr id="204" name="Google Shape;204;p20" title="Capture d'écran 2026-08-27 213255.png"/>
          <p:cNvPicPr preferRelativeResize="0"/>
          <p:nvPr/>
        </p:nvPicPr>
        <p:blipFill rotWithShape="1">
          <a:blip r:embed="rId7">
            <a:alphaModFix/>
          </a:blip>
          <a:srcRect b="0" l="3717" r="0" t="0"/>
          <a:stretch/>
        </p:blipFill>
        <p:spPr>
          <a:xfrm>
            <a:off x="4423950" y="1251725"/>
            <a:ext cx="2228350" cy="1402225"/>
          </a:xfrm>
          <a:prstGeom prst="rect">
            <a:avLst/>
          </a:prstGeom>
          <a:noFill/>
          <a:ln>
            <a:noFill/>
          </a:ln>
        </p:spPr>
      </p:pic>
      <p:pic>
        <p:nvPicPr>
          <p:cNvPr id="205" name="Google Shape;205;p20" title="Capture d'écran 2026-08-27 213424.png"/>
          <p:cNvPicPr preferRelativeResize="0"/>
          <p:nvPr/>
        </p:nvPicPr>
        <p:blipFill rotWithShape="1">
          <a:blip r:embed="rId8">
            <a:alphaModFix/>
          </a:blip>
          <a:srcRect b="0" l="2267" r="0" t="2903"/>
          <a:stretch/>
        </p:blipFill>
        <p:spPr>
          <a:xfrm>
            <a:off x="6020325" y="2747150"/>
            <a:ext cx="2651075" cy="1644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1"/>
          <p:cNvSpPr txBox="1"/>
          <p:nvPr>
            <p:ph type="title"/>
          </p:nvPr>
        </p:nvSpPr>
        <p:spPr>
          <a:xfrm>
            <a:off x="1096050" y="119741"/>
            <a:ext cx="7382700" cy="85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OÙ SE SITUE LA DEMANDE ? </a:t>
            </a:r>
            <a:r>
              <a:rPr lang="fr"/>
              <a:t>  </a:t>
            </a:r>
            <a:endParaRPr/>
          </a:p>
          <a:p>
            <a:pPr indent="0" lvl="0" marL="0" rtl="0" algn="l">
              <a:spcBef>
                <a:spcPts val="0"/>
              </a:spcBef>
              <a:spcAft>
                <a:spcPts val="0"/>
              </a:spcAft>
              <a:buNone/>
            </a:pPr>
            <a:r>
              <a:rPr lang="fr" sz="1978"/>
              <a:t>Une demande concentrée géographiquement et autour de quelques catégories de restauration </a:t>
            </a:r>
            <a:endParaRPr sz="1978"/>
          </a:p>
        </p:txBody>
      </p:sp>
      <p:sp>
        <p:nvSpPr>
          <p:cNvPr id="211" name="Google Shape;211;p21"/>
          <p:cNvSpPr txBox="1"/>
          <p:nvPr/>
        </p:nvSpPr>
        <p:spPr>
          <a:xfrm>
            <a:off x="994050" y="4595476"/>
            <a:ext cx="7484700" cy="31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300">
                <a:solidFill>
                  <a:schemeClr val="lt1"/>
                </a:solidFill>
                <a:latin typeface="Lato"/>
                <a:ea typeface="Lato"/>
                <a:cs typeface="Lato"/>
                <a:sym typeface="Lato"/>
              </a:rPr>
              <a:t>« C</a:t>
            </a:r>
            <a:r>
              <a:rPr lang="fr" sz="1300">
                <a:solidFill>
                  <a:schemeClr val="lt1"/>
                </a:solidFill>
                <a:latin typeface="Lato"/>
                <a:ea typeface="Lato"/>
                <a:cs typeface="Lato"/>
                <a:sym typeface="Lato"/>
              </a:rPr>
              <a:t>oncentrer prioritairement l'offre Bolt sur les zones et catégories où la demande est déjà forte. </a:t>
            </a:r>
            <a:r>
              <a:rPr lang="fr" sz="1300">
                <a:solidFill>
                  <a:schemeClr val="lt1"/>
                </a:solidFill>
                <a:latin typeface="Lato"/>
                <a:ea typeface="Lato"/>
                <a:cs typeface="Lato"/>
                <a:sym typeface="Lato"/>
              </a:rPr>
              <a:t>»  </a:t>
            </a:r>
            <a:endParaRPr sz="1300">
              <a:solidFill>
                <a:schemeClr val="lt1"/>
              </a:solidFill>
              <a:latin typeface="Lato"/>
              <a:ea typeface="Lato"/>
              <a:cs typeface="Lato"/>
              <a:sym typeface="Lato"/>
            </a:endParaRPr>
          </a:p>
        </p:txBody>
      </p:sp>
      <p:pic>
        <p:nvPicPr>
          <p:cNvPr id="212" name="Google Shape;212;p21" title="Capture d'écran 2026-08-27 212704.png"/>
          <p:cNvPicPr preferRelativeResize="0"/>
          <p:nvPr/>
        </p:nvPicPr>
        <p:blipFill>
          <a:blip r:embed="rId3">
            <a:alphaModFix/>
          </a:blip>
          <a:stretch>
            <a:fillRect/>
          </a:stretch>
        </p:blipFill>
        <p:spPr>
          <a:xfrm>
            <a:off x="4956104" y="1262350"/>
            <a:ext cx="3585271" cy="3198800"/>
          </a:xfrm>
          <a:prstGeom prst="rect">
            <a:avLst/>
          </a:prstGeom>
          <a:noFill/>
          <a:ln>
            <a:noFill/>
          </a:ln>
        </p:spPr>
      </p:pic>
      <p:pic>
        <p:nvPicPr>
          <p:cNvPr id="213" name="Google Shape;213;p21" title="Capture d'écran 2026-08-27 212735.png"/>
          <p:cNvPicPr preferRelativeResize="0"/>
          <p:nvPr/>
        </p:nvPicPr>
        <p:blipFill>
          <a:blip r:embed="rId4">
            <a:alphaModFix/>
          </a:blip>
          <a:stretch>
            <a:fillRect/>
          </a:stretch>
        </p:blipFill>
        <p:spPr>
          <a:xfrm>
            <a:off x="1096050" y="1262350"/>
            <a:ext cx="3453825" cy="1525508"/>
          </a:xfrm>
          <a:prstGeom prst="rect">
            <a:avLst/>
          </a:prstGeom>
          <a:noFill/>
          <a:ln>
            <a:noFill/>
          </a:ln>
        </p:spPr>
      </p:pic>
      <p:pic>
        <p:nvPicPr>
          <p:cNvPr id="214" name="Google Shape;214;p21" title="Capture d'écran 2026-08-27 212748.png"/>
          <p:cNvPicPr preferRelativeResize="0"/>
          <p:nvPr/>
        </p:nvPicPr>
        <p:blipFill rotWithShape="1">
          <a:blip r:embed="rId5">
            <a:alphaModFix/>
          </a:blip>
          <a:srcRect b="0" l="0" r="0" t="2809"/>
          <a:stretch/>
        </p:blipFill>
        <p:spPr>
          <a:xfrm>
            <a:off x="1096050" y="2927950"/>
            <a:ext cx="3453825" cy="15809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2"/>
          <p:cNvSpPr txBox="1"/>
          <p:nvPr>
            <p:ph type="title"/>
          </p:nvPr>
        </p:nvSpPr>
        <p:spPr>
          <a:xfrm>
            <a:off x="1297500" y="393750"/>
            <a:ext cx="69636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LES ENSEIGNEMENTS CLÉS </a:t>
            </a:r>
            <a:r>
              <a:rPr lang="fr"/>
              <a:t>   </a:t>
            </a:r>
            <a:endParaRPr/>
          </a:p>
          <a:p>
            <a:pPr indent="0" lvl="0" marL="0" rtl="0" algn="l">
              <a:spcBef>
                <a:spcPts val="0"/>
              </a:spcBef>
              <a:spcAft>
                <a:spcPts val="0"/>
              </a:spcAft>
              <a:buNone/>
            </a:pPr>
            <a:r>
              <a:rPr lang="fr" sz="1978"/>
              <a:t>4 constats pour orienter Bolt </a:t>
            </a:r>
            <a:endParaRPr sz="1978"/>
          </a:p>
        </p:txBody>
      </p:sp>
      <p:sp>
        <p:nvSpPr>
          <p:cNvPr id="220" name="Google Shape;220;p22"/>
          <p:cNvSpPr txBox="1"/>
          <p:nvPr/>
        </p:nvSpPr>
        <p:spPr>
          <a:xfrm>
            <a:off x="1105600" y="4219700"/>
            <a:ext cx="7155600" cy="5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lt1"/>
                </a:solidFill>
                <a:latin typeface="Lato"/>
                <a:ea typeface="Lato"/>
                <a:cs typeface="Lato"/>
                <a:sym typeface="Lato"/>
              </a:rPr>
              <a:t>« </a:t>
            </a:r>
            <a:r>
              <a:rPr lang="fr" sz="1300">
                <a:solidFill>
                  <a:schemeClr val="lt1"/>
                </a:solidFill>
                <a:latin typeface="Lato"/>
                <a:ea typeface="Lato"/>
                <a:cs typeface="Lato"/>
                <a:sym typeface="Lato"/>
              </a:rPr>
              <a:t>Bolt ne doit pas chercher à reproduire immédiatement l’offre des ses concurrents, mais entrer avec un positionnement ciblé et différenciant. » </a:t>
            </a:r>
            <a:endParaRPr sz="1300">
              <a:solidFill>
                <a:schemeClr val="lt1"/>
              </a:solidFill>
              <a:latin typeface="Lato"/>
              <a:ea typeface="Lato"/>
              <a:cs typeface="Lato"/>
              <a:sym typeface="Lato"/>
            </a:endParaRPr>
          </a:p>
        </p:txBody>
      </p:sp>
      <p:sp>
        <p:nvSpPr>
          <p:cNvPr id="221" name="Google Shape;221;p22"/>
          <p:cNvSpPr txBox="1"/>
          <p:nvPr>
            <p:ph idx="1" type="body"/>
          </p:nvPr>
        </p:nvSpPr>
        <p:spPr>
          <a:xfrm>
            <a:off x="1223032" y="2791875"/>
            <a:ext cx="3356700" cy="11490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None/>
            </a:pPr>
            <a:r>
              <a:rPr b="1" lang="fr" sz="1400"/>
              <a:t>UNE OFFRE TRÈS CONCENTRÉE</a:t>
            </a:r>
            <a:endParaRPr b="1" sz="1400"/>
          </a:p>
          <a:p>
            <a:pPr indent="0" lvl="0" marL="0" marR="0" rtl="0" algn="ctr">
              <a:lnSpc>
                <a:spcPct val="100000"/>
              </a:lnSpc>
              <a:spcBef>
                <a:spcPts val="0"/>
              </a:spcBef>
              <a:spcAft>
                <a:spcPts val="0"/>
              </a:spcAft>
              <a:buNone/>
            </a:pPr>
            <a:r>
              <a:t/>
            </a:r>
            <a:endParaRPr b="1" sz="1400"/>
          </a:p>
          <a:p>
            <a:pPr indent="0" lvl="0" marL="0" marR="0" rtl="0" algn="ctr">
              <a:lnSpc>
                <a:spcPct val="100000"/>
              </a:lnSpc>
              <a:spcBef>
                <a:spcPts val="0"/>
              </a:spcBef>
              <a:spcAft>
                <a:spcPts val="0"/>
              </a:spcAft>
              <a:buNone/>
            </a:pPr>
            <a:r>
              <a:rPr b="1" lang="fr" sz="1400"/>
              <a:t>Quelques types de restaurants concentre une forte demande</a:t>
            </a:r>
            <a:endParaRPr b="1" sz="1400"/>
          </a:p>
        </p:txBody>
      </p:sp>
      <p:sp>
        <p:nvSpPr>
          <p:cNvPr id="222" name="Google Shape;222;p22"/>
          <p:cNvSpPr txBox="1"/>
          <p:nvPr>
            <p:ph idx="1" type="body"/>
          </p:nvPr>
        </p:nvSpPr>
        <p:spPr>
          <a:xfrm>
            <a:off x="4802726" y="2791875"/>
            <a:ext cx="3356700" cy="11490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None/>
            </a:pPr>
            <a:r>
              <a:rPr b="1" lang="fr" sz="1400"/>
              <a:t>UNE CONCURRENCE </a:t>
            </a:r>
            <a:r>
              <a:rPr b="1" lang="fr" sz="1400"/>
              <a:t>DÉJÀ</a:t>
            </a:r>
            <a:r>
              <a:rPr b="1" lang="fr" sz="1400"/>
              <a:t> </a:t>
            </a:r>
            <a:r>
              <a:rPr b="1" lang="fr" sz="1400"/>
              <a:t>INSTALLÉE</a:t>
            </a:r>
            <a:endParaRPr b="1" sz="1400"/>
          </a:p>
          <a:p>
            <a:pPr indent="0" lvl="0" marL="0" marR="0" rtl="0" algn="ctr">
              <a:lnSpc>
                <a:spcPct val="100000"/>
              </a:lnSpc>
              <a:spcBef>
                <a:spcPts val="0"/>
              </a:spcBef>
              <a:spcAft>
                <a:spcPts val="0"/>
              </a:spcAft>
              <a:buNone/>
            </a:pPr>
            <a:r>
              <a:t/>
            </a:r>
            <a:endParaRPr b="1" sz="1400"/>
          </a:p>
          <a:p>
            <a:pPr indent="0" lvl="0" marL="0" marR="0" rtl="0" algn="ctr">
              <a:lnSpc>
                <a:spcPct val="100000"/>
              </a:lnSpc>
              <a:spcBef>
                <a:spcPts val="0"/>
              </a:spcBef>
              <a:spcAft>
                <a:spcPts val="0"/>
              </a:spcAft>
              <a:buNone/>
            </a:pPr>
            <a:r>
              <a:rPr b="1" lang="fr" sz="1400"/>
              <a:t>Uber Eats en </a:t>
            </a:r>
            <a:r>
              <a:rPr b="1" lang="fr" sz="1400"/>
              <a:t>tête</a:t>
            </a:r>
            <a:r>
              <a:rPr b="1" lang="fr" sz="1400"/>
              <a:t> en volume et en CA</a:t>
            </a:r>
            <a:endParaRPr b="1" sz="1400"/>
          </a:p>
        </p:txBody>
      </p:sp>
      <p:sp>
        <p:nvSpPr>
          <p:cNvPr id="223" name="Google Shape;223;p22"/>
          <p:cNvSpPr txBox="1"/>
          <p:nvPr>
            <p:ph idx="1" type="body"/>
          </p:nvPr>
        </p:nvSpPr>
        <p:spPr>
          <a:xfrm>
            <a:off x="1215203" y="1434509"/>
            <a:ext cx="3356700" cy="11490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None/>
            </a:pPr>
            <a:r>
              <a:rPr b="1" lang="fr" sz="1400"/>
              <a:t>UNE DYNAMIQUE DE </a:t>
            </a:r>
            <a:r>
              <a:rPr b="1" lang="fr" sz="1400"/>
              <a:t>CLIENTÈLE</a:t>
            </a:r>
            <a:r>
              <a:rPr b="1" lang="fr" sz="1400"/>
              <a:t> FAVORABLE</a:t>
            </a:r>
            <a:endParaRPr b="1" sz="1400"/>
          </a:p>
          <a:p>
            <a:pPr indent="0" lvl="0" marL="0" marR="0" rtl="0" algn="ctr">
              <a:lnSpc>
                <a:spcPct val="100000"/>
              </a:lnSpc>
              <a:spcBef>
                <a:spcPts val="0"/>
              </a:spcBef>
              <a:spcAft>
                <a:spcPts val="0"/>
              </a:spcAft>
              <a:buNone/>
            </a:pPr>
            <a:r>
              <a:t/>
            </a:r>
            <a:endParaRPr b="1" sz="1400"/>
          </a:p>
          <a:p>
            <a:pPr indent="0" lvl="0" marL="0" marR="0" rtl="0" algn="ctr">
              <a:lnSpc>
                <a:spcPct val="100000"/>
              </a:lnSpc>
              <a:spcBef>
                <a:spcPts val="0"/>
              </a:spcBef>
              <a:spcAft>
                <a:spcPts val="0"/>
              </a:spcAft>
              <a:buNone/>
            </a:pPr>
            <a:r>
              <a:rPr b="1" lang="fr" sz="1400"/>
              <a:t>x 9  environ de clients observés</a:t>
            </a:r>
            <a:endParaRPr b="1" sz="1400"/>
          </a:p>
        </p:txBody>
      </p:sp>
      <p:sp>
        <p:nvSpPr>
          <p:cNvPr id="224" name="Google Shape;224;p22"/>
          <p:cNvSpPr txBox="1"/>
          <p:nvPr>
            <p:ph idx="1" type="body"/>
          </p:nvPr>
        </p:nvSpPr>
        <p:spPr>
          <a:xfrm>
            <a:off x="4790200" y="1434350"/>
            <a:ext cx="3314400" cy="11490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None/>
            </a:pPr>
            <a:r>
              <a:rPr b="1" lang="fr" sz="1400"/>
              <a:t>   </a:t>
            </a:r>
            <a:r>
              <a:rPr b="1" lang="fr" sz="1400"/>
              <a:t>UNE CLIENTÈLE IDENTIFIABLE</a:t>
            </a:r>
            <a:endParaRPr b="1" sz="1400"/>
          </a:p>
          <a:p>
            <a:pPr indent="0" lvl="0" marL="0" marR="0" rtl="0" algn="ctr">
              <a:lnSpc>
                <a:spcPct val="100000"/>
              </a:lnSpc>
              <a:spcBef>
                <a:spcPts val="0"/>
              </a:spcBef>
              <a:spcAft>
                <a:spcPts val="0"/>
              </a:spcAft>
              <a:buNone/>
            </a:pPr>
            <a:r>
              <a:t/>
            </a:r>
            <a:endParaRPr b="1" sz="1400"/>
          </a:p>
          <a:p>
            <a:pPr indent="0" lvl="0" marL="0" marR="0" rtl="0" algn="ctr">
              <a:lnSpc>
                <a:spcPct val="100000"/>
              </a:lnSpc>
              <a:spcBef>
                <a:spcPts val="0"/>
              </a:spcBef>
              <a:spcAft>
                <a:spcPts val="0"/>
              </a:spcAft>
              <a:buNone/>
            </a:pPr>
            <a:r>
              <a:rPr b="1" lang="fr" sz="1400"/>
              <a:t>Profil et </a:t>
            </a:r>
            <a:r>
              <a:rPr b="1" lang="fr" sz="1400"/>
              <a:t>génération</a:t>
            </a:r>
            <a:r>
              <a:rPr b="1" lang="fr" sz="1400"/>
              <a:t> à cibler</a:t>
            </a:r>
            <a:endParaRPr b="1" sz="1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3"/>
          <p:cNvSpPr txBox="1"/>
          <p:nvPr/>
        </p:nvSpPr>
        <p:spPr>
          <a:xfrm>
            <a:off x="493200" y="3875225"/>
            <a:ext cx="8384700" cy="5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lt1"/>
                </a:solidFill>
                <a:latin typeface="Lato"/>
                <a:ea typeface="Lato"/>
                <a:cs typeface="Lato"/>
                <a:sym typeface="Lato"/>
              </a:rPr>
              <a:t>«</a:t>
            </a:r>
            <a:r>
              <a:rPr lang="fr" sz="1300">
                <a:solidFill>
                  <a:schemeClr val="lt1"/>
                </a:solidFill>
                <a:latin typeface="Lato"/>
                <a:ea typeface="Lato"/>
                <a:cs typeface="Lato"/>
                <a:sym typeface="Lato"/>
              </a:rPr>
              <a:t> Notre recommandation globale est donc une entrée progressive et ciblée, fondée sur les zones géographiques, les catégories de restaurants et les profils de clientèle présentant le potentiel le plus intéressant dans les données observées. </a:t>
            </a:r>
            <a:r>
              <a:rPr lang="fr" sz="1300">
                <a:solidFill>
                  <a:schemeClr val="lt1"/>
                </a:solidFill>
                <a:latin typeface="Lato"/>
                <a:ea typeface="Lato"/>
                <a:cs typeface="Lato"/>
                <a:sym typeface="Lato"/>
              </a:rPr>
              <a:t>» </a:t>
            </a:r>
            <a:endParaRPr sz="1300">
              <a:solidFill>
                <a:schemeClr val="lt1"/>
              </a:solidFill>
              <a:latin typeface="Lato"/>
              <a:ea typeface="Lato"/>
              <a:cs typeface="Lato"/>
              <a:sym typeface="Lato"/>
            </a:endParaRPr>
          </a:p>
        </p:txBody>
      </p:sp>
      <p:sp>
        <p:nvSpPr>
          <p:cNvPr id="230" name="Google Shape;230;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RECOMMANDATIONS POUR BOLT </a:t>
            </a:r>
            <a:r>
              <a:rPr lang="fr"/>
              <a:t>    </a:t>
            </a:r>
            <a:endParaRPr/>
          </a:p>
          <a:p>
            <a:pPr indent="0" lvl="0" marL="0" rtl="0" algn="l">
              <a:spcBef>
                <a:spcPts val="0"/>
              </a:spcBef>
              <a:spcAft>
                <a:spcPts val="0"/>
              </a:spcAft>
              <a:buNone/>
            </a:pPr>
            <a:r>
              <a:rPr lang="fr" sz="1978"/>
              <a:t>Entrer sur le marché avec une stratégie ciblée </a:t>
            </a:r>
            <a:endParaRPr sz="1978"/>
          </a:p>
        </p:txBody>
      </p:sp>
      <p:sp>
        <p:nvSpPr>
          <p:cNvPr id="231" name="Google Shape;231;p23"/>
          <p:cNvSpPr txBox="1"/>
          <p:nvPr>
            <p:ph idx="1" type="body"/>
          </p:nvPr>
        </p:nvSpPr>
        <p:spPr>
          <a:xfrm>
            <a:off x="1070400" y="1719950"/>
            <a:ext cx="2029800" cy="16932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None/>
            </a:pPr>
            <a:r>
              <a:rPr b="1" lang="fr" sz="1400"/>
              <a:t>① CIBLER</a:t>
            </a:r>
            <a:endParaRPr b="1" sz="1400"/>
          </a:p>
          <a:p>
            <a:pPr indent="0" lvl="0" marL="0" marR="0" rtl="0" algn="ctr">
              <a:lnSpc>
                <a:spcPct val="100000"/>
              </a:lnSpc>
              <a:spcBef>
                <a:spcPts val="0"/>
              </a:spcBef>
              <a:spcAft>
                <a:spcPts val="0"/>
              </a:spcAft>
              <a:buNone/>
            </a:pPr>
            <a:r>
              <a:t/>
            </a:r>
            <a:endParaRPr b="1" sz="1400"/>
          </a:p>
          <a:p>
            <a:pPr indent="0" lvl="0" marL="0" marR="0" rtl="0" algn="ctr">
              <a:lnSpc>
                <a:spcPct val="100000"/>
              </a:lnSpc>
              <a:spcBef>
                <a:spcPts val="0"/>
              </a:spcBef>
              <a:spcAft>
                <a:spcPts val="0"/>
              </a:spcAft>
              <a:buNone/>
            </a:pPr>
            <a:r>
              <a:rPr b="1" lang="fr" sz="1400"/>
              <a:t>Concentrer l'acquisition sur les profils de clientèle identifiés dans notre analyse. </a:t>
            </a:r>
            <a:endParaRPr b="1" sz="1400"/>
          </a:p>
        </p:txBody>
      </p:sp>
      <p:sp>
        <p:nvSpPr>
          <p:cNvPr id="232" name="Google Shape;232;p23"/>
          <p:cNvSpPr txBox="1"/>
          <p:nvPr>
            <p:ph idx="1" type="body"/>
          </p:nvPr>
        </p:nvSpPr>
        <p:spPr>
          <a:xfrm>
            <a:off x="3557100" y="1719950"/>
            <a:ext cx="2029800" cy="16932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None/>
            </a:pPr>
            <a:r>
              <a:rPr b="1" lang="fr" sz="1400"/>
              <a:t>② CONSTRUIRE L’OFFRE</a:t>
            </a:r>
            <a:endParaRPr b="1" sz="1400"/>
          </a:p>
          <a:p>
            <a:pPr indent="0" lvl="0" marL="0" marR="0" rtl="0" algn="ctr">
              <a:lnSpc>
                <a:spcPct val="100000"/>
              </a:lnSpc>
              <a:spcBef>
                <a:spcPts val="0"/>
              </a:spcBef>
              <a:spcAft>
                <a:spcPts val="0"/>
              </a:spcAft>
              <a:buNone/>
            </a:pPr>
            <a:r>
              <a:rPr b="1" lang="fr" sz="1400"/>
              <a:t>Prioriser les restaurants et types de cuisine qui concentrent déjà une forte demande. </a:t>
            </a:r>
            <a:endParaRPr b="1" sz="1400"/>
          </a:p>
        </p:txBody>
      </p:sp>
      <p:sp>
        <p:nvSpPr>
          <p:cNvPr id="233" name="Google Shape;233;p23"/>
          <p:cNvSpPr txBox="1"/>
          <p:nvPr>
            <p:ph idx="1" type="body"/>
          </p:nvPr>
        </p:nvSpPr>
        <p:spPr>
          <a:xfrm>
            <a:off x="6043800" y="1724550"/>
            <a:ext cx="2029800" cy="16932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None/>
            </a:pPr>
            <a:r>
              <a:rPr b="1" lang="fr" sz="1400"/>
              <a:t>③ SE </a:t>
            </a:r>
            <a:r>
              <a:rPr b="1" lang="fr" sz="1400"/>
              <a:t>DIFFÉRENCIER</a:t>
            </a:r>
            <a:endParaRPr b="1" sz="1400"/>
          </a:p>
          <a:p>
            <a:pPr indent="0" lvl="0" marL="0" marR="0" rtl="0" algn="ctr">
              <a:lnSpc>
                <a:spcPct val="100000"/>
              </a:lnSpc>
              <a:spcBef>
                <a:spcPts val="0"/>
              </a:spcBef>
              <a:spcAft>
                <a:spcPts val="0"/>
              </a:spcAft>
              <a:buNone/>
            </a:pPr>
            <a:r>
              <a:t/>
            </a:r>
            <a:endParaRPr b="1" sz="1400"/>
          </a:p>
          <a:p>
            <a:pPr indent="0" lvl="0" marL="0" marR="0" rtl="0" algn="ctr">
              <a:lnSpc>
                <a:spcPct val="100000"/>
              </a:lnSpc>
              <a:spcBef>
                <a:spcPts val="0"/>
              </a:spcBef>
              <a:spcAft>
                <a:spcPts val="0"/>
              </a:spcAft>
              <a:buNone/>
            </a:pPr>
            <a:r>
              <a:rPr b="1" lang="fr" sz="1400"/>
              <a:t>Ne pas chercher à reproduire exactement le modèle d'Uber Eats et Deliveroo. </a:t>
            </a:r>
            <a:endParaRPr b="1" sz="1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LIMITES DE L'ANALYSE </a:t>
            </a:r>
            <a:r>
              <a:rPr lang="fr"/>
              <a:t>     </a:t>
            </a:r>
            <a:endParaRPr/>
          </a:p>
          <a:p>
            <a:pPr indent="0" lvl="0" marL="0" rtl="0" algn="l">
              <a:spcBef>
                <a:spcPts val="0"/>
              </a:spcBef>
              <a:spcAft>
                <a:spcPts val="0"/>
              </a:spcAft>
              <a:buNone/>
            </a:pPr>
            <a:r>
              <a:rPr lang="fr" sz="1978"/>
              <a:t>Des résultats utiles, mais à interpréter avec prudence </a:t>
            </a:r>
            <a:endParaRPr sz="1978"/>
          </a:p>
        </p:txBody>
      </p:sp>
      <p:sp>
        <p:nvSpPr>
          <p:cNvPr id="239" name="Google Shape;239;p24"/>
          <p:cNvSpPr txBox="1"/>
          <p:nvPr/>
        </p:nvSpPr>
        <p:spPr>
          <a:xfrm>
            <a:off x="1027325" y="3875225"/>
            <a:ext cx="7155600" cy="5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lt1"/>
                </a:solidFill>
                <a:latin typeface="Lato"/>
                <a:ea typeface="Lato"/>
                <a:cs typeface="Lato"/>
                <a:sym typeface="Lato"/>
              </a:rPr>
              <a:t>« Les résultats décrivent des tendances observées à partir de l'échantillon FoxIntelligence et ne représentent pas automatiquement l'ensemble du marché français. » </a:t>
            </a:r>
            <a:endParaRPr sz="1300">
              <a:solidFill>
                <a:schemeClr val="lt1"/>
              </a:solidFill>
              <a:latin typeface="Lato"/>
              <a:ea typeface="Lato"/>
              <a:cs typeface="Lato"/>
              <a:sym typeface="Lato"/>
            </a:endParaRPr>
          </a:p>
        </p:txBody>
      </p:sp>
      <p:sp>
        <p:nvSpPr>
          <p:cNvPr id="240" name="Google Shape;240;p24"/>
          <p:cNvSpPr txBox="1"/>
          <p:nvPr>
            <p:ph idx="1" type="body"/>
          </p:nvPr>
        </p:nvSpPr>
        <p:spPr>
          <a:xfrm>
            <a:off x="1219500" y="1478088"/>
            <a:ext cx="2010000" cy="22269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None/>
            </a:pPr>
            <a:r>
              <a:rPr b="1" lang="fr" sz="1400"/>
              <a:t>① IDENTIFICATION DES CLIENTS</a:t>
            </a:r>
            <a:endParaRPr b="1" sz="1400"/>
          </a:p>
          <a:p>
            <a:pPr indent="0" lvl="0" marL="0" marR="0" rtl="0" algn="ctr">
              <a:lnSpc>
                <a:spcPct val="100000"/>
              </a:lnSpc>
              <a:spcBef>
                <a:spcPts val="0"/>
              </a:spcBef>
              <a:spcAft>
                <a:spcPts val="0"/>
              </a:spcAft>
              <a:buNone/>
            </a:pPr>
            <a:r>
              <a:t/>
            </a:r>
            <a:endParaRPr b="1" sz="1400"/>
          </a:p>
          <a:p>
            <a:pPr indent="0" lvl="0" marL="0" marR="0" rtl="0" algn="ctr">
              <a:lnSpc>
                <a:spcPct val="100000"/>
              </a:lnSpc>
              <a:spcBef>
                <a:spcPts val="0"/>
              </a:spcBef>
              <a:spcAft>
                <a:spcPts val="0"/>
              </a:spcAft>
              <a:buNone/>
            </a:pPr>
            <a:r>
              <a:rPr b="1" lang="fr" sz="950"/>
              <a:t>Absence d'identifiant unique permettant de relier les différentes tables au niveau client </a:t>
            </a:r>
            <a:endParaRPr b="1" sz="950"/>
          </a:p>
        </p:txBody>
      </p:sp>
      <p:sp>
        <p:nvSpPr>
          <p:cNvPr id="241" name="Google Shape;241;p24"/>
          <p:cNvSpPr txBox="1"/>
          <p:nvPr>
            <p:ph idx="1" type="body"/>
          </p:nvPr>
        </p:nvSpPr>
        <p:spPr>
          <a:xfrm>
            <a:off x="3525963" y="1478075"/>
            <a:ext cx="2010000" cy="22269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None/>
            </a:pPr>
            <a:r>
              <a:rPr b="1" lang="fr" sz="1400"/>
              <a:t>② </a:t>
            </a:r>
            <a:r>
              <a:rPr b="1" lang="fr" sz="1400"/>
              <a:t>GRANULARITÉ</a:t>
            </a:r>
            <a:r>
              <a:rPr b="1" lang="fr" sz="1400"/>
              <a:t> DES </a:t>
            </a:r>
            <a:r>
              <a:rPr b="1" lang="fr" sz="1400"/>
              <a:t>DONNÉES</a:t>
            </a:r>
            <a:endParaRPr b="1" sz="1400"/>
          </a:p>
          <a:p>
            <a:pPr indent="0" lvl="0" marL="0" marR="0" rtl="0" algn="ctr">
              <a:lnSpc>
                <a:spcPct val="100000"/>
              </a:lnSpc>
              <a:spcBef>
                <a:spcPts val="0"/>
              </a:spcBef>
              <a:spcAft>
                <a:spcPts val="0"/>
              </a:spcAft>
              <a:buNone/>
            </a:pPr>
            <a:r>
              <a:t/>
            </a:r>
            <a:endParaRPr b="1" sz="1400"/>
          </a:p>
          <a:p>
            <a:pPr indent="0" lvl="0" marL="0" marR="0" rtl="0" algn="ctr">
              <a:lnSpc>
                <a:spcPct val="100000"/>
              </a:lnSpc>
              <a:spcBef>
                <a:spcPts val="0"/>
              </a:spcBef>
              <a:spcAft>
                <a:spcPts val="0"/>
              </a:spcAft>
              <a:buNone/>
            </a:pPr>
            <a:r>
              <a:rPr b="1" lang="fr" sz="950"/>
              <a:t>Le dataframe Produit présente une granularité différente du </a:t>
            </a:r>
            <a:r>
              <a:rPr b="1" lang="fr" sz="950"/>
              <a:t>data frame</a:t>
            </a:r>
            <a:r>
              <a:rPr b="1" lang="fr" sz="950"/>
              <a:t> Vente</a:t>
            </a:r>
            <a:endParaRPr b="1" sz="950"/>
          </a:p>
          <a:p>
            <a:pPr indent="0" lvl="0" marL="0" marR="0" rtl="0" algn="ctr">
              <a:lnSpc>
                <a:spcPct val="100000"/>
              </a:lnSpc>
              <a:spcBef>
                <a:spcPts val="0"/>
              </a:spcBef>
              <a:spcAft>
                <a:spcPts val="0"/>
              </a:spcAft>
              <a:buNone/>
            </a:pPr>
            <a:r>
              <a:t/>
            </a:r>
            <a:endParaRPr b="1" sz="950"/>
          </a:p>
          <a:p>
            <a:pPr indent="0" lvl="0" marL="0" marR="0" rtl="0" algn="ctr">
              <a:lnSpc>
                <a:spcPct val="100000"/>
              </a:lnSpc>
              <a:spcBef>
                <a:spcPts val="0"/>
              </a:spcBef>
              <a:spcAft>
                <a:spcPts val="0"/>
              </a:spcAft>
              <a:buNone/>
            </a:pPr>
            <a:r>
              <a:rPr b="1" lang="fr" sz="950"/>
              <a:t>Son intégration directe pourrait entraîner un changement de granularité et du double comptage</a:t>
            </a:r>
            <a:r>
              <a:rPr lang="fr" sz="950">
                <a:solidFill>
                  <a:srgbClr val="000000"/>
                </a:solidFill>
              </a:rPr>
              <a:t>  </a:t>
            </a:r>
            <a:r>
              <a:rPr lang="fr" sz="1050">
                <a:latin typeface="Montserrat"/>
                <a:ea typeface="Montserrat"/>
                <a:cs typeface="Montserrat"/>
                <a:sym typeface="Montserrat"/>
              </a:rPr>
              <a:t> </a:t>
            </a:r>
            <a:endParaRPr/>
          </a:p>
        </p:txBody>
      </p:sp>
      <p:sp>
        <p:nvSpPr>
          <p:cNvPr id="242" name="Google Shape;242;p24"/>
          <p:cNvSpPr txBox="1"/>
          <p:nvPr>
            <p:ph idx="1" type="body"/>
          </p:nvPr>
        </p:nvSpPr>
        <p:spPr>
          <a:xfrm>
            <a:off x="5832425" y="1495750"/>
            <a:ext cx="2350500" cy="22269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rmAutofit fontScale="70000" lnSpcReduction="20000"/>
          </a:bodyPr>
          <a:lstStyle/>
          <a:p>
            <a:pPr indent="0" lvl="0" marL="0" marR="0" rtl="0" algn="ctr">
              <a:lnSpc>
                <a:spcPct val="100000"/>
              </a:lnSpc>
              <a:spcBef>
                <a:spcPts val="0"/>
              </a:spcBef>
              <a:spcAft>
                <a:spcPts val="0"/>
              </a:spcAft>
              <a:buNone/>
            </a:pPr>
            <a:r>
              <a:rPr b="1" lang="fr" sz="2000"/>
              <a:t>③ </a:t>
            </a:r>
            <a:r>
              <a:rPr b="1" lang="fr" sz="2000"/>
              <a:t>PÉRIMÈTRE</a:t>
            </a:r>
            <a:r>
              <a:rPr b="1" lang="fr" sz="2000"/>
              <a:t> ET </a:t>
            </a:r>
            <a:r>
              <a:rPr b="1" lang="fr" sz="2000"/>
              <a:t>REPRÉSENTATIVITÉ</a:t>
            </a:r>
            <a:endParaRPr b="1" sz="2000"/>
          </a:p>
          <a:p>
            <a:pPr indent="0" lvl="0" marL="0" marR="0" rtl="0" algn="ctr">
              <a:lnSpc>
                <a:spcPct val="100000"/>
              </a:lnSpc>
              <a:spcBef>
                <a:spcPts val="0"/>
              </a:spcBef>
              <a:spcAft>
                <a:spcPts val="0"/>
              </a:spcAft>
              <a:buNone/>
            </a:pPr>
            <a:r>
              <a:t/>
            </a:r>
            <a:endParaRPr b="1" sz="1400"/>
          </a:p>
          <a:p>
            <a:pPr indent="0" lvl="0" marL="0" marR="0" rtl="0" algn="ctr">
              <a:lnSpc>
                <a:spcPct val="100000"/>
              </a:lnSpc>
              <a:spcBef>
                <a:spcPts val="0"/>
              </a:spcBef>
              <a:spcAft>
                <a:spcPts val="0"/>
              </a:spcAft>
              <a:buNone/>
            </a:pPr>
            <a:r>
              <a:t/>
            </a:r>
            <a:endParaRPr b="1" sz="1400"/>
          </a:p>
          <a:p>
            <a:pPr indent="0" lvl="0" marL="0" marR="0" rtl="0" algn="ctr">
              <a:lnSpc>
                <a:spcPct val="100000"/>
              </a:lnSpc>
              <a:spcBef>
                <a:spcPts val="0"/>
              </a:spcBef>
              <a:spcAft>
                <a:spcPts val="0"/>
              </a:spcAft>
              <a:buNone/>
            </a:pPr>
            <a:r>
              <a:rPr b="1" lang="fr" sz="1400"/>
              <a:t>Données issues de reçus électroniques </a:t>
            </a:r>
            <a:endParaRPr b="1" sz="1400"/>
          </a:p>
          <a:p>
            <a:pPr indent="0" lvl="0" marL="0" marR="0" rtl="0" algn="ctr">
              <a:lnSpc>
                <a:spcPct val="100000"/>
              </a:lnSpc>
              <a:spcBef>
                <a:spcPts val="0"/>
              </a:spcBef>
              <a:spcAft>
                <a:spcPts val="0"/>
              </a:spcAft>
              <a:buNone/>
            </a:pPr>
            <a:r>
              <a:t/>
            </a:r>
            <a:endParaRPr b="1" sz="1400"/>
          </a:p>
          <a:p>
            <a:pPr indent="0" lvl="0" marL="0" marR="0" rtl="0" algn="ctr">
              <a:lnSpc>
                <a:spcPct val="100000"/>
              </a:lnSpc>
              <a:spcBef>
                <a:spcPts val="0"/>
              </a:spcBef>
              <a:spcAft>
                <a:spcPts val="0"/>
              </a:spcAft>
              <a:buNone/>
            </a:pPr>
            <a:r>
              <a:rPr b="1" lang="fr" sz="1400"/>
              <a:t>Informations clients anonymisées </a:t>
            </a:r>
            <a:endParaRPr b="1" sz="1400"/>
          </a:p>
          <a:p>
            <a:pPr indent="0" lvl="0" marL="0" marR="0" rtl="0" algn="ctr">
              <a:lnSpc>
                <a:spcPct val="100000"/>
              </a:lnSpc>
              <a:spcBef>
                <a:spcPts val="0"/>
              </a:spcBef>
              <a:spcAft>
                <a:spcPts val="0"/>
              </a:spcAft>
              <a:buNone/>
            </a:pPr>
            <a:r>
              <a:t/>
            </a:r>
            <a:endParaRPr b="1" sz="1400"/>
          </a:p>
          <a:p>
            <a:pPr indent="0" lvl="0" marL="0" marR="0" rtl="0" algn="ctr">
              <a:lnSpc>
                <a:spcPct val="100000"/>
              </a:lnSpc>
              <a:spcBef>
                <a:spcPts val="0"/>
              </a:spcBef>
              <a:spcAft>
                <a:spcPts val="0"/>
              </a:spcAft>
              <a:buNone/>
            </a:pPr>
            <a:r>
              <a:rPr b="1" lang="fr" sz="1400"/>
              <a:t>Just Eat exclu pour certaines analyses </a:t>
            </a:r>
            <a:endParaRPr b="1" sz="1400"/>
          </a:p>
          <a:p>
            <a:pPr indent="0" lvl="0" marL="0" marR="0" rtl="0" algn="ctr">
              <a:lnSpc>
                <a:spcPct val="100000"/>
              </a:lnSpc>
              <a:spcBef>
                <a:spcPts val="0"/>
              </a:spcBef>
              <a:spcAft>
                <a:spcPts val="0"/>
              </a:spcAft>
              <a:buNone/>
            </a:pPr>
            <a:r>
              <a:t/>
            </a:r>
            <a:endParaRPr b="1" sz="1400"/>
          </a:p>
          <a:p>
            <a:pPr indent="0" lvl="0" marL="0" marR="0" rtl="0" algn="ctr">
              <a:lnSpc>
                <a:spcPct val="100000"/>
              </a:lnSpc>
              <a:spcBef>
                <a:spcPts val="0"/>
              </a:spcBef>
              <a:spcAft>
                <a:spcPts val="0"/>
              </a:spcAft>
              <a:buNone/>
            </a:pPr>
            <a:r>
              <a:rPr b="1" lang="fr" sz="1400"/>
              <a:t>Présence de données manquantes ou atypiques </a:t>
            </a:r>
            <a:endParaRPr b="1" sz="1400"/>
          </a:p>
          <a:p>
            <a:pPr indent="0" lvl="0" marL="0" marR="0" rtl="0" algn="ctr">
              <a:lnSpc>
                <a:spcPct val="100000"/>
              </a:lnSpc>
              <a:spcBef>
                <a:spcPts val="0"/>
              </a:spcBef>
              <a:spcAft>
                <a:spcPts val="0"/>
              </a:spcAft>
              <a:buNone/>
            </a:pPr>
            <a:r>
              <a:t/>
            </a:r>
            <a:endParaRPr b="1" sz="1400"/>
          </a:p>
          <a:p>
            <a:pPr indent="0" lvl="0" marL="0" marR="0" rtl="0" algn="ctr">
              <a:lnSpc>
                <a:spcPct val="100000"/>
              </a:lnSpc>
              <a:spcBef>
                <a:spcPts val="0"/>
              </a:spcBef>
              <a:spcAft>
                <a:spcPts val="0"/>
              </a:spcAft>
              <a:buNone/>
            </a:pPr>
            <a:r>
              <a:rPr b="1" lang="fr" sz="1400"/>
              <a:t>Période d'observation limitée</a:t>
            </a:r>
            <a:endParaRPr b="1" sz="1400"/>
          </a:p>
          <a:p>
            <a:pPr indent="0" lvl="0" marL="0" marR="0" rtl="0" algn="ctr">
              <a:lnSpc>
                <a:spcPct val="100000"/>
              </a:lnSpc>
              <a:spcBef>
                <a:spcPts val="0"/>
              </a:spcBef>
              <a:spcAft>
                <a:spcPts val="0"/>
              </a:spcAft>
              <a:buNone/>
            </a:pPr>
            <a:r>
              <a:t/>
            </a:r>
            <a:endParaRPr b="1" sz="1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5"/>
          <p:cNvSpPr txBox="1"/>
          <p:nvPr>
            <p:ph type="title"/>
          </p:nvPr>
        </p:nvSpPr>
        <p:spPr>
          <a:xfrm>
            <a:off x="1127350" y="393750"/>
            <a:ext cx="74061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CONCLUSION </a:t>
            </a:r>
            <a:r>
              <a:rPr lang="fr"/>
              <a:t>    </a:t>
            </a:r>
            <a:endParaRPr/>
          </a:p>
          <a:p>
            <a:pPr indent="0" lvl="0" marL="0" rtl="0" algn="l">
              <a:spcBef>
                <a:spcPts val="0"/>
              </a:spcBef>
              <a:spcAft>
                <a:spcPts val="0"/>
              </a:spcAft>
              <a:buNone/>
            </a:pPr>
            <a:r>
              <a:rPr lang="fr" sz="1978"/>
              <a:t>Bolt dispose d'une opportunité </a:t>
            </a:r>
            <a:r>
              <a:rPr lang="fr" sz="1978"/>
              <a:t>mais doit entrer de façon ciblée </a:t>
            </a:r>
            <a:endParaRPr sz="1978"/>
          </a:p>
        </p:txBody>
      </p:sp>
      <p:sp>
        <p:nvSpPr>
          <p:cNvPr id="248" name="Google Shape;248;p25"/>
          <p:cNvSpPr txBox="1"/>
          <p:nvPr/>
        </p:nvSpPr>
        <p:spPr>
          <a:xfrm>
            <a:off x="584975" y="4102275"/>
            <a:ext cx="8040300" cy="42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fr" sz="1300">
                <a:solidFill>
                  <a:schemeClr val="lt1"/>
                </a:solidFill>
                <a:latin typeface="Lato"/>
                <a:ea typeface="Lato"/>
                <a:cs typeface="Lato"/>
                <a:sym typeface="Lato"/>
              </a:rPr>
              <a:t>« Notre recommandation finale est donc simple : entrer sur le marché, mais de manière ciblée et progressive. »</a:t>
            </a:r>
            <a:r>
              <a:rPr lang="fr" sz="1100"/>
              <a:t> </a:t>
            </a:r>
            <a:endParaRPr sz="1300">
              <a:solidFill>
                <a:schemeClr val="lt1"/>
              </a:solidFill>
              <a:latin typeface="Lato"/>
              <a:ea typeface="Lato"/>
              <a:cs typeface="Lato"/>
              <a:sym typeface="Lato"/>
            </a:endParaRPr>
          </a:p>
        </p:txBody>
      </p:sp>
      <p:sp>
        <p:nvSpPr>
          <p:cNvPr id="249" name="Google Shape;249;p25"/>
          <p:cNvSpPr txBox="1"/>
          <p:nvPr>
            <p:ph idx="1" type="body"/>
          </p:nvPr>
        </p:nvSpPr>
        <p:spPr>
          <a:xfrm>
            <a:off x="1193500" y="1719950"/>
            <a:ext cx="2029800" cy="19203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None/>
            </a:pPr>
            <a:r>
              <a:rPr b="1" lang="fr" sz="1400"/>
              <a:t>① CLIENTS</a:t>
            </a:r>
            <a:endParaRPr b="1" sz="1400"/>
          </a:p>
          <a:p>
            <a:pPr indent="0" lvl="0" marL="0" marR="0" rtl="0" algn="ctr">
              <a:lnSpc>
                <a:spcPct val="100000"/>
              </a:lnSpc>
              <a:spcBef>
                <a:spcPts val="0"/>
              </a:spcBef>
              <a:spcAft>
                <a:spcPts val="0"/>
              </a:spcAft>
              <a:buNone/>
            </a:pPr>
            <a:r>
              <a:t/>
            </a:r>
            <a:endParaRPr b="1" sz="1400"/>
          </a:p>
          <a:p>
            <a:pPr indent="0" lvl="0" marL="0" marR="0" rtl="0" algn="ctr">
              <a:lnSpc>
                <a:spcPct val="100000"/>
              </a:lnSpc>
              <a:spcBef>
                <a:spcPts val="0"/>
              </a:spcBef>
              <a:spcAft>
                <a:spcPts val="0"/>
              </a:spcAft>
              <a:buNone/>
            </a:pPr>
            <a:r>
              <a:rPr b="1" lang="fr" sz="1400"/>
              <a:t>Une clientèle  identifiable et </a:t>
            </a:r>
            <a:endParaRPr b="1" sz="1400"/>
          </a:p>
          <a:p>
            <a:pPr indent="0" lvl="0" marL="0" marR="0" rtl="0" algn="ctr">
              <a:lnSpc>
                <a:spcPct val="100000"/>
              </a:lnSpc>
              <a:spcBef>
                <a:spcPts val="0"/>
              </a:spcBef>
              <a:spcAft>
                <a:spcPts val="0"/>
              </a:spcAft>
              <a:buNone/>
            </a:pPr>
            <a:r>
              <a:rPr b="1" lang="fr" sz="1400"/>
              <a:t>en progression </a:t>
            </a:r>
            <a:endParaRPr b="1" sz="2400">
              <a:latin typeface="Montserrat"/>
              <a:ea typeface="Montserrat"/>
              <a:cs typeface="Montserrat"/>
              <a:sym typeface="Montserrat"/>
            </a:endParaRPr>
          </a:p>
        </p:txBody>
      </p:sp>
      <p:sp>
        <p:nvSpPr>
          <p:cNvPr id="250" name="Google Shape;250;p25"/>
          <p:cNvSpPr txBox="1"/>
          <p:nvPr>
            <p:ph idx="1" type="body"/>
          </p:nvPr>
        </p:nvSpPr>
        <p:spPr>
          <a:xfrm>
            <a:off x="3590225" y="1719950"/>
            <a:ext cx="2029800" cy="19203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None/>
            </a:pPr>
            <a:r>
              <a:rPr b="1" lang="fr" sz="1400"/>
              <a:t>            ② MARCHÉ</a:t>
            </a:r>
            <a:endParaRPr b="1" sz="1400"/>
          </a:p>
          <a:p>
            <a:pPr indent="0" lvl="0" marL="0" marR="0" rtl="0" algn="ctr">
              <a:lnSpc>
                <a:spcPct val="100000"/>
              </a:lnSpc>
              <a:spcBef>
                <a:spcPts val="0"/>
              </a:spcBef>
              <a:spcAft>
                <a:spcPts val="0"/>
              </a:spcAft>
              <a:buNone/>
            </a:pPr>
            <a:r>
              <a:t/>
            </a:r>
            <a:endParaRPr b="1" sz="1400"/>
          </a:p>
          <a:p>
            <a:pPr indent="0" lvl="0" marL="0" marR="0" rtl="0" algn="ctr">
              <a:lnSpc>
                <a:spcPct val="100000"/>
              </a:lnSpc>
              <a:spcBef>
                <a:spcPts val="0"/>
              </a:spcBef>
              <a:spcAft>
                <a:spcPts val="0"/>
              </a:spcAft>
              <a:buNone/>
            </a:pPr>
            <a:br>
              <a:rPr b="1" lang="fr" sz="1400"/>
            </a:br>
            <a:r>
              <a:rPr b="1" lang="fr" sz="1400"/>
              <a:t>Une demande forte,  mais concentrée </a:t>
            </a:r>
            <a:r>
              <a:rPr b="1" lang="fr" sz="1050">
                <a:latin typeface="Montserrat"/>
                <a:ea typeface="Montserrat"/>
                <a:cs typeface="Montserrat"/>
                <a:sym typeface="Montserrat"/>
              </a:rPr>
              <a:t> </a:t>
            </a:r>
            <a:endParaRPr b="1"/>
          </a:p>
        </p:txBody>
      </p:sp>
      <p:sp>
        <p:nvSpPr>
          <p:cNvPr id="251" name="Google Shape;251;p25"/>
          <p:cNvSpPr txBox="1"/>
          <p:nvPr>
            <p:ph idx="1" type="body"/>
          </p:nvPr>
        </p:nvSpPr>
        <p:spPr>
          <a:xfrm>
            <a:off x="5986950" y="1719950"/>
            <a:ext cx="2029800" cy="19203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None/>
            </a:pPr>
            <a:r>
              <a:rPr b="1" lang="fr" sz="1400"/>
              <a:t>③ </a:t>
            </a:r>
            <a:r>
              <a:rPr b="1" lang="fr" sz="1400"/>
              <a:t>STRATÉGIE</a:t>
            </a:r>
            <a:endParaRPr b="1" sz="1400"/>
          </a:p>
          <a:p>
            <a:pPr indent="0" lvl="0" marL="0" marR="0" rtl="0" algn="ctr">
              <a:lnSpc>
                <a:spcPct val="100000"/>
              </a:lnSpc>
              <a:spcBef>
                <a:spcPts val="0"/>
              </a:spcBef>
              <a:spcAft>
                <a:spcPts val="0"/>
              </a:spcAft>
              <a:buNone/>
            </a:pPr>
            <a:r>
              <a:t/>
            </a:r>
            <a:endParaRPr b="1" sz="1400"/>
          </a:p>
          <a:p>
            <a:pPr indent="0" lvl="0" marL="0" marR="0" rtl="0" algn="ctr">
              <a:lnSpc>
                <a:spcPct val="100000"/>
              </a:lnSpc>
              <a:spcBef>
                <a:spcPts val="0"/>
              </a:spcBef>
              <a:spcAft>
                <a:spcPts val="0"/>
              </a:spcAft>
              <a:buNone/>
            </a:pPr>
            <a:r>
              <a:rPr b="1" lang="fr" sz="1400"/>
              <a:t>Cibler les zones géographiques, catégories de restaurants et profils clients prioritaires</a:t>
            </a:r>
            <a:r>
              <a:rPr b="1" lang="fr" sz="1200"/>
              <a:t>  </a:t>
            </a:r>
            <a:endParaRPr b="1" sz="1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